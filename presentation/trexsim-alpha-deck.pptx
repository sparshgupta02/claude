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8cf489f-5b11-7215-bf16-fa1d84581975}">
          <p14:sldIdLst>
            <p14:sldId id="256"/>
            <p14:sldId id="257"/>
          </p14:sldIdLst>
        </p14:section>
        <p14:section name="The three alphas" id="{ae65f026-02e2-0315-3b2c-13bce3aaf1b2}">
          <p14:sldIdLst>
            <p14:sldId id="258"/>
            <p14:sldId id="259"/>
            <p14:sldId id="260"/>
            <p14:sldId id="261"/>
          </p14:sldIdLst>
        </p14:section>
        <p14:section name="Benchmark and conclusion" id="{5d23af3a-5c84-0497-59bb-c62073168a16}">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220"/>
                </a:solidFill>
                <a:latin typeface="+mn-lt"/>
              </a:defRPr>
            </a:pPr>
            <a:r>
              <a:rPr sz="1300" b="0" i="0" u="none" strike="noStrike">
                <a:solidFill>
                  <a:srgbClr val="0B1220"/>
                </a:solidFill>
                <a:latin typeface="+mn-lt"/>
              </a:rPr>
              <a:t>IR of the 11 single intraday signals (Family A)</a:t>
            </a:r>
          </a:p>
        </c:rich>
      </c:tx>
      <c:layout/>
      <c:overlay val="0"/>
    </c:title>
    <c:autoTitleDeleted val="0"/>
    <c:plotArea>
      <c:layout/>
      <c:barChart>
        <c:barDir val="bar"/>
        <c:grouping val="clustered"/>
        <c:varyColors val="0"/>
        <c:ser>
          <c:idx val="0"/>
          <c:order val="0"/>
          <c:tx>
            <c:strRef>
              <c:f>Sheet1!$B$1</c:f>
              <c:strCache>
                <c:ptCount val="1"/>
                <c:pt idx="0">
                  <c:v>IR</c:v>
                </c:pt>
              </c:strCache>
            </c:strRef>
          </c:tx>
          <c:spPr>
            <a:solidFill>
              <a:srgbClr val="8A94A6"/>
            </a:solidFill>
            <a:effectLst/>
          </c:spPr>
          <c:invertIfNegative val="0"/>
          <c:dLbls>
            <c:numFmt formatCode="0.000" sourceLinked="0"/>
            <c:txPr>
              <a:bodyPr/>
              <a:lstStyle/>
              <a:p>
                <a:pPr>
                  <a:defRPr b="0" i="0" strike="noStrike" sz="1200" u="none">
                    <a:solidFill>
                      <a:srgbClr val="0B1220"/>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8A94A6"/>
              </a:solidFill>
              <a:effectLst/>
            </c:spPr>
          </c:dPt>
          <c:dPt>
            <c:idx val="2"/>
            <c:invertIfNegative val="0"/>
            <c:bubble3D val="0"/>
            <c:spPr>
              <a:solidFill>
                <a:srgbClr val="8A94A6"/>
              </a:solidFill>
              <a:effectLst/>
            </c:spPr>
          </c:dPt>
          <c:dPt>
            <c:idx val="3"/>
            <c:invertIfNegative val="0"/>
            <c:bubble3D val="0"/>
            <c:spPr>
              <a:solidFill>
                <a:srgbClr val="8A94A6"/>
              </a:solidFill>
              <a:effectLst/>
            </c:spPr>
          </c:dPt>
          <c:dPt>
            <c:idx val="4"/>
            <c:invertIfNegative val="0"/>
            <c:bubble3D val="0"/>
            <c:spPr>
              <a:solidFill>
                <a:srgbClr val="8A94A6"/>
              </a:solidFill>
              <a:effectLst/>
            </c:spPr>
          </c:dPt>
          <c:dPt>
            <c:idx val="5"/>
            <c:invertIfNegative val="0"/>
            <c:bubble3D val="0"/>
            <c:spPr>
              <a:solidFill>
                <a:srgbClr val="8A94A6"/>
              </a:solidFill>
              <a:effectLst/>
            </c:spPr>
          </c:dPt>
          <c:dPt>
            <c:idx val="6"/>
            <c:invertIfNegative val="0"/>
            <c:bubble3D val="0"/>
            <c:spPr>
              <a:solidFill>
                <a:srgbClr val="8A94A6"/>
              </a:solidFill>
              <a:effectLst/>
            </c:spPr>
          </c:dPt>
          <c:dPt>
            <c:idx val="7"/>
            <c:invertIfNegative val="0"/>
            <c:bubble3D val="0"/>
            <c:spPr>
              <a:solidFill>
                <a:srgbClr val="8A94A6"/>
              </a:solidFill>
              <a:effectLst/>
            </c:spPr>
          </c:dPt>
          <c:dPt>
            <c:idx val="8"/>
            <c:invertIfNegative val="0"/>
            <c:bubble3D val="0"/>
            <c:spPr>
              <a:solidFill>
                <a:srgbClr val="8A94A6"/>
              </a:solidFill>
              <a:effectLst/>
            </c:spPr>
          </c:dPt>
          <c:dPt>
            <c:idx val="9"/>
            <c:invertIfNegative val="0"/>
            <c:bubble3D val="0"/>
            <c:spPr>
              <a:solidFill>
                <a:srgbClr val="8A94A6"/>
              </a:solidFill>
              <a:effectLst/>
            </c:spPr>
          </c:dPt>
          <c:dPt>
            <c:idx val="10"/>
            <c:invertIfNegative val="0"/>
            <c:bubble3D val="0"/>
            <c:spPr>
              <a:solidFill>
                <a:srgbClr val="C2410C"/>
              </a:solidFill>
              <a:effectLst/>
            </c:spPr>
          </c:dPt>
          <c:cat>
            <c:multiLvlStrRef>
              <c:f>Sheet1!$A$2:$A$12</c:f>
              <c:multiLvlStrCache>
                <c:ptCount val="11"/>
                <c:lvl>
                  <c:pt idx="0">
                    <c:v>316910</c:v>
                  </c:pt>
                  <c:pt idx="1">
                    <c:v>323084</c:v>
                  </c:pt>
                  <c:pt idx="2">
                    <c:v>320022</c:v>
                  </c:pt>
                  <c:pt idx="3">
                    <c:v>334032</c:v>
                  </c:pt>
                  <c:pt idx="4">
                    <c:v>319868</c:v>
                  </c:pt>
                  <c:pt idx="5">
                    <c:v>317914</c:v>
                  </c:pt>
                  <c:pt idx="6">
                    <c:v>316394</c:v>
                  </c:pt>
                  <c:pt idx="7">
                    <c:v>316611</c:v>
                  </c:pt>
                  <c:pt idx="8">
                    <c:v>322818</c:v>
                  </c:pt>
                  <c:pt idx="9">
                    <c:v>322875</c:v>
                  </c:pt>
                  <c:pt idx="10">
                    <c:v>320000</c:v>
                  </c:pt>
                </c:lvl>
              </c:multiLvlStrCache>
            </c:multiLvlStrRef>
          </c:cat>
          <c:val>
            <c:numRef>
              <c:f>Sheet1!$B$2:$B$12</c:f>
              <c:numCache>
                <c:formatCode>General</c:formatCode>
                <c:ptCount val="11"/>
                <c:pt idx="0">
                  <c:v>0.071</c:v>
                </c:pt>
                <c:pt idx="1">
                  <c:v>0.075</c:v>
                </c:pt>
                <c:pt idx="2">
                  <c:v>0.076</c:v>
                </c:pt>
                <c:pt idx="3">
                  <c:v>0.078</c:v>
                </c:pt>
                <c:pt idx="4">
                  <c:v>0.081</c:v>
                </c:pt>
                <c:pt idx="5">
                  <c:v>0.085</c:v>
                </c:pt>
                <c:pt idx="6">
                  <c:v>0.091</c:v>
                </c:pt>
                <c:pt idx="7">
                  <c:v>0.093</c:v>
                </c:pt>
                <c:pt idx="8">
                  <c:v>0.094</c:v>
                </c:pt>
                <c:pt idx="9">
                  <c:v>0.096</c:v>
                </c:pt>
                <c:pt idx="10">
                  <c:v>0.12</c:v>
                </c:pt>
              </c:numCache>
            </c:numRef>
          </c:val>
        </c:ser>
        <c:dLbls>
          <c:numFmt formatCode="0.000" sourceLinked="0"/>
          <c:txPr>
            <a:bodyPr/>
            <a:lstStyle/>
            <a:p>
              <a:pPr>
                <a:defRPr b="0" i="0" strike="noStrike" sz="1200" u="none">
                  <a:solidFill>
                    <a:srgbClr val="0B122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6070"/>
                </a:solidFill>
                <a:latin typeface="+mn-lt"/>
              </a:defRPr>
            </a:pPr>
            <a:endParaRPr lang="en-US"/>
          </a:p>
        </c:txPr>
        <c:crossAx val="2094734552"/>
        <c:crosses val="autoZero"/>
        <c:auto val="1"/>
        <c:lblAlgn val="ctr"/>
        <c:noMultiLvlLbl val="1"/>
      </c:catAx>
      <c:valAx>
        <c:axId val="2094734552"/>
        <c:scaling>
          <c:orientation val="minMax"/>
          <c:max val="0.14"/>
          <c:min val="0"/>
        </c:scaling>
        <c:delete val="0"/>
        <c:axPos val="b"/>
        <c:majorGridlines>
          <c:spPr>
            <a:ln w="9525" cap="flat">
              <a:solidFill>
                <a:srgbClr val="E3E8EF"/>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5560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220"/>
                </a:solidFill>
                <a:latin typeface="+mn-lt"/>
              </a:defRPr>
            </a:pPr>
            <a:r>
              <a:rPr sz="1300" b="0" i="0" u="none" strike="noStrike">
                <a:solidFill>
                  <a:srgbClr val="0B1220"/>
                </a:solidFill>
                <a:latin typeface="+mn-lt"/>
              </a:rPr>
              <a:t>IR: legs, predictions and the actual composite</a:t>
            </a:r>
          </a:p>
        </c:rich>
      </c:tx>
      <c:layout/>
      <c:overlay val="0"/>
    </c:title>
    <c:autoTitleDeleted val="0"/>
    <c:plotArea>
      <c:layout/>
      <c:barChart>
        <c:barDir val="bar"/>
        <c:grouping val="clustered"/>
        <c:varyColors val="0"/>
        <c:ser>
          <c:idx val="0"/>
          <c:order val="0"/>
          <c:tx>
            <c:strRef>
              <c:f>Sheet1!$B$1</c:f>
              <c:strCache>
                <c:ptCount val="1"/>
                <c:pt idx="0">
                  <c:v>IR</c:v>
                </c:pt>
              </c:strCache>
            </c:strRef>
          </c:tx>
          <c:spPr>
            <a:solidFill>
              <a:srgbClr val="0E7C6B"/>
            </a:solidFill>
            <a:effectLst/>
          </c:spPr>
          <c:invertIfNegative val="0"/>
          <c:dLbls>
            <c:numFmt formatCode="0.000" sourceLinked="0"/>
            <c:txPr>
              <a:bodyPr/>
              <a:lstStyle/>
              <a:p>
                <a:pPr>
                  <a:defRPr b="0" i="0" strike="noStrike" sz="1200" u="none">
                    <a:solidFill>
                      <a:srgbClr val="0B1220"/>
                    </a:solidFill>
                    <a:latin typeface="+mn-lt"/>
                  </a:defRPr>
                </a:pPr>
              </a:p>
            </c:txPr>
            <c:showLegendKey val="0"/>
            <c:showVal val="1"/>
            <c:showCatName val="0"/>
            <c:showSerName val="0"/>
            <c:showPercent val="0"/>
            <c:showBubbleSize val="0"/>
            <c:showLeaderLines val="0"/>
          </c:dLbls>
          <c:dPt>
            <c:idx val="0"/>
            <c:invertIfNegative val="0"/>
            <c:bubble3D val="0"/>
            <c:spPr>
              <a:solidFill>
                <a:srgbClr val="0E7C6B"/>
              </a:solidFill>
              <a:effectLst/>
            </c:spPr>
          </c:dPt>
          <c:dPt>
            <c:idx val="1"/>
            <c:invertIfNegative val="0"/>
            <c:bubble3D val="0"/>
            <c:spPr>
              <a:solidFill>
                <a:srgbClr val="D5DBE3"/>
              </a:solidFill>
              <a:effectLst/>
            </c:spPr>
          </c:dPt>
          <c:dPt>
            <c:idx val="2"/>
            <c:invertIfNegative val="0"/>
            <c:bubble3D val="0"/>
            <c:spPr>
              <a:solidFill>
                <a:srgbClr val="D5DBE3"/>
              </a:solidFill>
              <a:effectLst/>
            </c:spPr>
          </c:dPt>
          <c:dPt>
            <c:idx val="3"/>
            <c:invertIfNegative val="0"/>
            <c:bubble3D val="0"/>
            <c:spPr>
              <a:solidFill>
                <a:srgbClr val="8A94A6"/>
              </a:solidFill>
              <a:effectLst/>
            </c:spPr>
          </c:dPt>
          <c:dPt>
            <c:idx val="4"/>
            <c:invertIfNegative val="0"/>
            <c:bubble3D val="0"/>
            <c:spPr>
              <a:solidFill>
                <a:srgbClr val="8A94A6"/>
              </a:solidFill>
              <a:effectLst/>
            </c:spPr>
          </c:dPt>
          <c:cat>
            <c:multiLvlStrRef>
              <c:f>Sheet1!$A$2:$A$6</c:f>
              <c:multiLvlStrCache>
                <c:ptCount val="5"/>
                <c:lvl>
                  <c:pt idx="0">
                    <c:v>Actual 336690</c:v>
                  </c:pt>
                  <c:pt idx="1">
                    <c:v>Predicted if ρ = 0</c:v>
                  </c:pt>
                  <c:pt idx="2">
                    <c:v>Predicted if ρ = 1</c:v>
                  </c:pt>
                  <c:pt idx="3">
                    <c:v>Leg 2 alone (day-range)</c:v>
                  </c:pt>
                  <c:pt idx="4">
                    <c:v>Leg 1 alone (vol-conc)</c:v>
                  </c:pt>
                </c:lvl>
              </c:multiLvlStrCache>
            </c:multiLvlStrRef>
          </c:cat>
          <c:val>
            <c:numRef>
              <c:f>Sheet1!$B$2:$B$6</c:f>
              <c:numCache>
                <c:formatCode>General</c:formatCode>
                <c:ptCount val="5"/>
                <c:pt idx="0">
                  <c:v>0.119</c:v>
                </c:pt>
                <c:pt idx="1">
                  <c:v>0.1188</c:v>
                </c:pt>
                <c:pt idx="2">
                  <c:v>0.084</c:v>
                </c:pt>
                <c:pt idx="3">
                  <c:v>0.093</c:v>
                </c:pt>
                <c:pt idx="4">
                  <c:v>0.075</c:v>
                </c:pt>
              </c:numCache>
            </c:numRef>
          </c:val>
        </c:ser>
        <c:dLbls>
          <c:numFmt formatCode="0.000" sourceLinked="0"/>
          <c:txPr>
            <a:bodyPr/>
            <a:lstStyle/>
            <a:p>
              <a:pPr>
                <a:defRPr b="0" i="0" strike="noStrike" sz="1200" u="none">
                  <a:solidFill>
                    <a:srgbClr val="0B122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6070"/>
                </a:solidFill>
                <a:latin typeface="+mn-lt"/>
              </a:defRPr>
            </a:pPr>
            <a:endParaRPr lang="en-US"/>
          </a:p>
        </c:txPr>
        <c:crossAx val="2094734552"/>
        <c:crosses val="autoZero"/>
        <c:auto val="1"/>
        <c:lblAlgn val="ctr"/>
        <c:noMultiLvlLbl val="1"/>
      </c:catAx>
      <c:valAx>
        <c:axId val="2094734552"/>
        <c:scaling>
          <c:orientation val="minMax"/>
          <c:max val="0.14"/>
          <c:min val="0"/>
        </c:scaling>
        <c:delete val="0"/>
        <c:axPos val="b"/>
        <c:majorGridlines>
          <c:spPr>
            <a:ln w="9525" cap="flat">
              <a:solidFill>
                <a:srgbClr val="E3E8EF"/>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5560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alphas, each built on a different economic mechanism: one rides information (earnings drift), one is paid for providing liquidity (reversion), one combines two independent views of the closing auction. Every number shown is benchmarked against the 80 alphas already submitted on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is dollar-neutral and industry-neutral, so a market index is not a fair comparison: market beta is close to zero by construction. Instead each alpha is compared on three levels: the full pool of 80 submitted alphas, its own family of similar alphas, and, for the composite, its own legs. The grey numbers at the bottom are the pool medians every later slide refers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momentum shows up here and not as plain price momentum: once returns are industry-neutralised, 12-month price momentum gave IR close to zero on this platform. Continuation survives when the move is tied to news (an earnings report) and confirmed by volume. Example: a stock with 2% daily vol jumps 6% on 3x normal volume after earnings, r = (6/2) x 3 = 9, so it is held long for about 20 days. Be upfront that IR rank is 76 of 80 and drawdown 22.4 is among the worst; the case for it is low turnover and diversification.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IR of the 11 single intraday signals (0.120 vs a family median of 0.085) and the highest raw return of all 80 alphas. Weak spot: turnover 0.99 is about the pool median, so its score IR/sqrt(TVR) = 0.121 is only at the pool median 0.118. Drawdown 13.0 equals the family median. Mechanism: large time-constrained traders push the price away from fair value at both ends of the day; whoever absorbs that flow earns the reversal.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leg alone is weak: 323084 ranks 75 of 80 on IR and 80 of 80 on score; 316611 ranks 52 of 80. One measures participation, the other price location, and one is a persistence effect while the other is a reversal. Nothing in one leg's input tells you the other's, which is why they should be close to uncorrelated. The next slide checks that with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two legs were the same signal (rho = 1), adding them would just average their IRs: 0.084. If they are independent (rho = 0), the noise partly cancels and IR rises to 0.119. The measured IR is 0.119, so the implied correlation is essentially zero. That is the empirical case for calling them orthogonal. Weak spot: both legs are high-turnover, so the composite inherits a turnover of 1.37 and its platform score is below the pool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1 is best for every metric; for turnover and drawdown lower is better. Top-quartile column is the 75th percentile of the pool (25th for turnover and drawdown). Ties share a rank: 361878 and 320000 have the same score, 0.121. No alpha wins on every axis, which is the point of holding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portfolio view: three different horizons and two opposite signs. The risks named are hypotheses about failure modes, not measured events. The correlation between the three alphas' PnL streams has not been measured here; that and an out-of-sample run are the obvious next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tx2"/>
                </a:solidFill>
              </a:rPr>
              <a:t>TrexSim · US TOP1000 · delay 0 · industry-neutral · Slow period 2007–2021 · in-sample</a:t>
            </a:r>
            <a:endParaRPr lang="en-US" sz="10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560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560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548640" y="1371600"/>
            <a:ext cx="10058400" cy="365760"/>
          </a:xfrm>
          <a:prstGeom prst="rect">
            <a:avLst/>
          </a:prstGeom>
          <a:noFill/>
          <a:ln/>
        </p:spPr>
        <p:txBody>
          <a:bodyPr wrap="square" lIns="0" tIns="0" rIns="0" bIns="0" rtlCol="0" anchor="t"/>
          <a:lstStyle/>
          <a:p>
            <a:pPr indent="0" marL="0">
              <a:buNone/>
            </a:pPr>
            <a:r>
              <a:rPr lang="en-US" sz="1400" b="1" spc="200" kern="0" dirty="0">
                <a:solidFill>
                  <a:srgbClr val="C9D2E0"/>
                </a:solidFill>
              </a:rPr>
              <a:t>TRExSIM ALPHA RESEARCH  ·  US TOP1000  ·  2007–2021</a:t>
            </a:r>
            <a:endParaRPr lang="en-US" sz="1400" dirty="0"/>
          </a:p>
        </p:txBody>
      </p:sp>
      <p:sp>
        <p:nvSpPr>
          <p:cNvPr id="3" name="Text 0"/>
          <p:cNvSpPr/>
          <p:nvPr>
            <p:ph idx="100" type="title" hasCustomPrompt="1"/>
          </p:nvPr>
        </p:nvSpPr>
        <p:spPr>
          <a:xfrm>
            <a:off x="548640" y="2011680"/>
            <a:ext cx="10515600" cy="1463040"/>
          </a:xfrm>
          <a:prstGeom prst="rect">
            <a:avLst/>
          </a:prstGeom>
          <a:noFill/>
          <a:ln/>
        </p:spPr>
        <p:txBody>
          <a:bodyPr wrap="square" lIns="0" tIns="0" rIns="0" bIns="0" rtlCol="0" anchor="t"/>
          <a:lstStyle/>
          <a:p>
            <a:pPr algn="l" indent="0" marL="0">
              <a:buNone/>
            </a:pPr>
            <a:r>
              <a:rPr lang="en-US" sz="4400" b="1" dirty="0">
                <a:solidFill>
                  <a:schemeClr val="bg1"/>
                </a:solidFill>
              </a:rPr>
              <a:t>Three alphas, three mechanisms</a:t>
            </a:r>
            <a:endParaRPr lang="en-US" sz="4400" dirty="0"/>
          </a:p>
        </p:txBody>
      </p:sp>
      <p:sp>
        <p:nvSpPr>
          <p:cNvPr id="4" name="text-2"/>
          <p:cNvSpPr txBox="1"/>
          <p:nvPr/>
        </p:nvSpPr>
        <p:spPr>
          <a:xfrm>
            <a:off x="548640" y="3063240"/>
            <a:ext cx="8412480" cy="914400"/>
          </a:xfrm>
          <a:prstGeom prst="rect">
            <a:avLst/>
          </a:prstGeom>
          <a:noFill/>
          <a:ln/>
        </p:spPr>
        <p:txBody>
          <a:bodyPr wrap="square" lIns="0" tIns="0" rIns="0" bIns="0" rtlCol="0" anchor="t"/>
          <a:lstStyle/>
          <a:p>
            <a:pPr indent="0" marL="0">
              <a:buNone/>
            </a:pPr>
            <a:r>
              <a:rPr lang="en-US" sz="1800" dirty="0">
                <a:solidFill>
                  <a:srgbClr val="C9D2E0"/>
                </a:solidFill>
              </a:rPr>
              <a:t>Event-drift momentum, two-sided price reversion and an orthogonal two-leg composite, each benchmarked against the account's 80 submitted alphas.</a:t>
            </a:r>
            <a:endParaRPr lang="en-US" sz="1800" dirty="0"/>
          </a:p>
        </p:txBody>
      </p:sp>
      <p:sp>
        <p:nvSpPr>
          <p:cNvPr id="5" name="tag-3"/>
          <p:cNvSpPr/>
          <p:nvPr/>
        </p:nvSpPr>
        <p:spPr>
          <a:xfrm>
            <a:off x="548640" y="4754880"/>
            <a:ext cx="2194560" cy="310896"/>
          </a:xfrm>
          <a:prstGeom prst="roundRect">
            <a:avLst>
              <a:gd name="adj" fmla="val 11765"/>
            </a:avLst>
          </a:prstGeom>
          <a:solidFill>
            <a:srgbClr val="1F4FD8"/>
          </a:solidFill>
          <a:ln w="12700">
            <a:solidFill>
              <a:srgbClr val="1F4FD8"/>
            </a:solidFill>
            <a:prstDash val="solid"/>
          </a:ln>
        </p:spPr>
      </p:sp>
      <p:sp>
        <p:nvSpPr>
          <p:cNvPr id="6" name="text-4"/>
          <p:cNvSpPr txBox="1"/>
          <p:nvPr/>
        </p:nvSpPr>
        <p:spPr>
          <a:xfrm>
            <a:off x="548640" y="4754880"/>
            <a:ext cx="2194560" cy="310896"/>
          </a:xfrm>
          <a:prstGeom prst="rect">
            <a:avLst/>
          </a:prstGeom>
          <a:noFill/>
          <a:ln/>
        </p:spPr>
        <p:txBody>
          <a:bodyPr wrap="square" lIns="0" tIns="0" rIns="0" bIns="0" rtlCol="0" anchor="ctr"/>
          <a:lstStyle/>
          <a:p>
            <a:pPr algn="ctr" indent="0" marL="0">
              <a:buNone/>
            </a:pPr>
            <a:r>
              <a:rPr lang="en-US" sz="1200" b="1" dirty="0">
                <a:solidFill>
                  <a:schemeClr val="bg1"/>
                </a:solidFill>
              </a:rPr>
              <a:t>361878 · Momentum</a:t>
            </a:r>
            <a:endParaRPr lang="en-US" sz="1200" dirty="0"/>
          </a:p>
        </p:txBody>
      </p:sp>
      <p:sp>
        <p:nvSpPr>
          <p:cNvPr id="7" name="tag-5"/>
          <p:cNvSpPr/>
          <p:nvPr/>
        </p:nvSpPr>
        <p:spPr>
          <a:xfrm>
            <a:off x="3017520" y="4754880"/>
            <a:ext cx="2377440" cy="310896"/>
          </a:xfrm>
          <a:prstGeom prst="roundRect">
            <a:avLst>
              <a:gd name="adj" fmla="val 11765"/>
            </a:avLst>
          </a:prstGeom>
          <a:solidFill>
            <a:srgbClr val="C2410C"/>
          </a:solidFill>
          <a:ln w="12700">
            <a:solidFill>
              <a:srgbClr val="C2410C"/>
            </a:solidFill>
            <a:prstDash val="solid"/>
          </a:ln>
        </p:spPr>
      </p:sp>
      <p:sp>
        <p:nvSpPr>
          <p:cNvPr id="8" name="text-6"/>
          <p:cNvSpPr txBox="1"/>
          <p:nvPr/>
        </p:nvSpPr>
        <p:spPr>
          <a:xfrm>
            <a:off x="3017520" y="4754880"/>
            <a:ext cx="2377440" cy="310896"/>
          </a:xfrm>
          <a:prstGeom prst="rect">
            <a:avLst/>
          </a:prstGeom>
          <a:noFill/>
          <a:ln/>
        </p:spPr>
        <p:txBody>
          <a:bodyPr wrap="square" lIns="0" tIns="0" rIns="0" bIns="0" rtlCol="0" anchor="ctr"/>
          <a:lstStyle/>
          <a:p>
            <a:pPr algn="ctr" indent="0" marL="0">
              <a:buNone/>
            </a:pPr>
            <a:r>
              <a:rPr lang="en-US" sz="1200" b="1" dirty="0">
                <a:solidFill>
                  <a:schemeClr val="bg1"/>
                </a:solidFill>
              </a:rPr>
              <a:t>320000 · Mean reversion</a:t>
            </a:r>
            <a:endParaRPr lang="en-US" sz="1200" dirty="0"/>
          </a:p>
        </p:txBody>
      </p:sp>
      <p:sp>
        <p:nvSpPr>
          <p:cNvPr id="9" name="tag-7"/>
          <p:cNvSpPr/>
          <p:nvPr/>
        </p:nvSpPr>
        <p:spPr>
          <a:xfrm>
            <a:off x="5669280" y="4754880"/>
            <a:ext cx="2194560" cy="310896"/>
          </a:xfrm>
          <a:prstGeom prst="roundRect">
            <a:avLst>
              <a:gd name="adj" fmla="val 11765"/>
            </a:avLst>
          </a:prstGeom>
          <a:solidFill>
            <a:srgbClr val="0E7C6B"/>
          </a:solidFill>
          <a:ln w="12700">
            <a:solidFill>
              <a:srgbClr val="0E7C6B"/>
            </a:solidFill>
            <a:prstDash val="solid"/>
          </a:ln>
        </p:spPr>
      </p:sp>
      <p:sp>
        <p:nvSpPr>
          <p:cNvPr id="10" name="text-8"/>
          <p:cNvSpPr txBox="1"/>
          <p:nvPr/>
        </p:nvSpPr>
        <p:spPr>
          <a:xfrm>
            <a:off x="5669280" y="4754880"/>
            <a:ext cx="2194560" cy="310896"/>
          </a:xfrm>
          <a:prstGeom prst="rect">
            <a:avLst/>
          </a:prstGeom>
          <a:noFill/>
          <a:ln/>
        </p:spPr>
        <p:txBody>
          <a:bodyPr wrap="square" lIns="0" tIns="0" rIns="0" bIns="0" rtlCol="0" anchor="ctr"/>
          <a:lstStyle/>
          <a:p>
            <a:pPr algn="ctr" indent="0" marL="0">
              <a:buNone/>
            </a:pPr>
            <a:r>
              <a:rPr lang="en-US" sz="1200" b="1" dirty="0">
                <a:solidFill>
                  <a:schemeClr val="bg1"/>
                </a:solidFill>
              </a:rPr>
              <a:t>336690 · Composite</a:t>
            </a:r>
            <a:endParaRPr lang="en-US" sz="1200" dirty="0"/>
          </a:p>
        </p:txBody>
      </p:sp>
      <p:sp>
        <p:nvSpPr>
          <p:cNvPr id="11" name="text-9"/>
          <p:cNvSpPr txBox="1"/>
          <p:nvPr/>
        </p:nvSpPr>
        <p:spPr>
          <a:xfrm>
            <a:off x="548640" y="6126480"/>
            <a:ext cx="8229600" cy="320040"/>
          </a:xfrm>
          <a:prstGeom prst="rect">
            <a:avLst/>
          </a:prstGeom>
          <a:noFill/>
          <a:ln/>
        </p:spPr>
        <p:txBody>
          <a:bodyPr wrap="square" lIns="0" tIns="0" rIns="0" bIns="0" rtlCol="0" anchor="t"/>
          <a:lstStyle/>
          <a:p>
            <a:pPr indent="0" marL="0">
              <a:buNone/>
            </a:pPr>
            <a:r>
              <a:rPr lang="en-US" sz="1100" dirty="0">
                <a:solidFill>
                  <a:srgbClr val="C9D2E0"/>
                </a:solidFill>
              </a:rPr>
              <a:t>All statistics are in-sample (Slow period) and in the platform's own units.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t"/>
          <a:lstStyle/>
          <a:p>
            <a:pPr algn="l" indent="0" marL="0">
              <a:buNone/>
            </a:pPr>
            <a:r>
              <a:rPr lang="en-US" sz="3000" b="1" dirty="0">
                <a:solidFill>
                  <a:schemeClr val="tx1"/>
                </a:solidFill>
              </a:rPr>
              <a:t>How every alpha is benchmarked</a:t>
            </a:r>
            <a:endParaRPr lang="en-US" sz="3000" dirty="0"/>
          </a:p>
        </p:txBody>
      </p:sp>
      <p:sp>
        <p:nvSpPr>
          <p:cNvPr id="3" name="card-10"/>
          <p:cNvSpPr/>
          <p:nvPr/>
        </p:nvSpPr>
        <p:spPr>
          <a:xfrm>
            <a:off x="548640" y="1325880"/>
            <a:ext cx="4754880" cy="3657600"/>
          </a:xfrm>
          <a:prstGeom prst="roundRect">
            <a:avLst>
              <a:gd name="adj" fmla="val 2000"/>
            </a:avLst>
          </a:prstGeom>
          <a:solidFill>
            <a:schemeClr val="bg2"/>
          </a:solidFill>
          <a:ln w="12700">
            <a:solidFill>
              <a:schemeClr val="bg2"/>
            </a:solidFill>
            <a:prstDash val="solid"/>
          </a:ln>
        </p:spPr>
      </p:sp>
      <p:sp>
        <p:nvSpPr>
          <p:cNvPr id="4" name="text-11"/>
          <p:cNvSpPr txBox="1"/>
          <p:nvPr/>
        </p:nvSpPr>
        <p:spPr>
          <a:xfrm>
            <a:off x="822960" y="1508760"/>
            <a:ext cx="4206240" cy="365760"/>
          </a:xfrm>
          <a:prstGeom prst="rect">
            <a:avLst/>
          </a:prstGeom>
          <a:noFill/>
          <a:ln/>
        </p:spPr>
        <p:txBody>
          <a:bodyPr wrap="square" lIns="0" tIns="0" rIns="0" bIns="0" rtlCol="0" anchor="t"/>
          <a:lstStyle/>
          <a:p>
            <a:pPr indent="0" marL="0">
              <a:buNone/>
            </a:pPr>
            <a:r>
              <a:rPr lang="en-US" sz="2000" b="1" dirty="0">
                <a:solidFill>
                  <a:schemeClr val="tx1"/>
                </a:solidFill>
              </a:rPr>
              <a:t>The test bed</a:t>
            </a:r>
            <a:endParaRPr lang="en-US" sz="2000" dirty="0"/>
          </a:p>
        </p:txBody>
      </p:sp>
      <p:sp>
        <p:nvSpPr>
          <p:cNvPr id="5" name="text-12"/>
          <p:cNvSpPr txBox="1"/>
          <p:nvPr/>
        </p:nvSpPr>
        <p:spPr>
          <a:xfrm>
            <a:off x="822960" y="2011680"/>
            <a:ext cx="4206240" cy="283464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Universe  </a:t>
            </a:r>
            <a:pPr indent="0" marL="0">
              <a:spcAft>
                <a:spcPts val="800"/>
              </a:spcAft>
              <a:buNone/>
            </a:pPr>
            <a:r>
              <a:rPr lang="en-US" sz="1400" dirty="0">
                <a:solidFill>
                  <a:schemeClr val="tx2"/>
                </a:solidFill>
              </a:rPr>
              <a:t>US TOP1000, industry-neutral</a:t>
            </a:r>
            <a:endParaRPr lang="en-US" sz="1400" dirty="0"/>
          </a:p>
          <a:p>
            <a:pPr indent="0" marL="0">
              <a:spcAft>
                <a:spcPts val="800"/>
              </a:spcAft>
              <a:buNone/>
            </a:pPr>
            <a:r>
              <a:rPr lang="en-US" sz="1400" b="1" dirty="0">
                <a:solidFill>
                  <a:schemeClr val="tx1"/>
                </a:solidFill>
              </a:rPr>
              <a:t>Period  </a:t>
            </a:r>
            <a:pPr indent="0" marL="0">
              <a:spcAft>
                <a:spcPts val="800"/>
              </a:spcAft>
              <a:buNone/>
            </a:pPr>
            <a:r>
              <a:rPr lang="en-US" sz="1400" dirty="0">
                <a:solidFill>
                  <a:schemeClr val="tx2"/>
                </a:solidFill>
              </a:rPr>
              <a:t>15 Mar 2007 – 30 Dec 2021 (Slow)</a:t>
            </a:r>
            <a:endParaRPr lang="en-US" sz="1400" dirty="0"/>
          </a:p>
          <a:p>
            <a:pPr indent="0" marL="0">
              <a:spcAft>
                <a:spcPts val="800"/>
              </a:spcAft>
              <a:buNone/>
            </a:pPr>
            <a:r>
              <a:rPr lang="en-US" sz="1400" b="1" dirty="0">
                <a:solidFill>
                  <a:schemeClr val="tx1"/>
                </a:solidFill>
              </a:rPr>
              <a:t>Frequency  </a:t>
            </a:r>
            <a:pPr indent="0" marL="0">
              <a:spcAft>
                <a:spcPts val="800"/>
              </a:spcAft>
              <a:buNone/>
            </a:pPr>
            <a:r>
              <a:rPr lang="en-US" sz="1400" dirty="0">
                <a:solidFill>
                  <a:schemeClr val="tx2"/>
                </a:solidFill>
              </a:rPr>
              <a:t>Daily rebalance, delay 0 (trade the close)</a:t>
            </a:r>
            <a:endParaRPr lang="en-US" sz="1400" dirty="0"/>
          </a:p>
          <a:p>
            <a:pPr indent="0" marL="0">
              <a:spcAft>
                <a:spcPts val="800"/>
              </a:spcAft>
              <a:buNone/>
            </a:pPr>
            <a:r>
              <a:rPr lang="en-US" sz="1400" b="1" dirty="0">
                <a:solidFill>
                  <a:schemeClr val="tx1"/>
                </a:solidFill>
              </a:rPr>
              <a:t>Inputs  </a:t>
            </a:r>
            <a:pPr indent="0" marL="0">
              <a:spcAft>
                <a:spcPts val="800"/>
              </a:spcAft>
              <a:buNone/>
            </a:pPr>
            <a:r>
              <a:rPr lang="en-US" sz="1400" dirty="0">
                <a:solidFill>
                  <a:schemeClr val="tx2"/>
                </a:solidFill>
              </a:rPr>
              <a:t>Daily bars + daily summaries of intraday data (last-hour VWAP, volume share, skew)</a:t>
            </a:r>
            <a:endParaRPr lang="en-US" sz="1400" dirty="0"/>
          </a:p>
          <a:p>
            <a:pPr indent="0" marL="0">
              <a:spcAft>
                <a:spcPts val="800"/>
              </a:spcAft>
              <a:buNone/>
            </a:pPr>
            <a:r>
              <a:rPr lang="en-US" sz="1400" b="1" dirty="0">
                <a:solidFill>
                  <a:schemeClr val="tx1"/>
                </a:solidFill>
              </a:rPr>
              <a:t>Book  </a:t>
            </a:r>
            <a:pPr indent="0" marL="0">
              <a:spcAft>
                <a:spcPts val="800"/>
              </a:spcAft>
              <a:buNone/>
            </a:pPr>
            <a:r>
              <a:rPr lang="en-US" sz="1400" dirty="0">
                <a:solidFill>
                  <a:schemeClr val="tx2"/>
                </a:solidFill>
              </a:rPr>
              <a:t>Long-short, dollar-neutral: the right yardstick is peer alphas, not the S&amp;P 500</a:t>
            </a:r>
            <a:endParaRPr lang="en-US" sz="1400" dirty="0"/>
          </a:p>
        </p:txBody>
      </p:sp>
      <p:sp>
        <p:nvSpPr>
          <p:cNvPr id="6" name="step-13"/>
          <p:cNvSpPr/>
          <p:nvPr/>
        </p:nvSpPr>
        <p:spPr>
          <a:xfrm>
            <a:off x="5760720" y="1463040"/>
            <a:ext cx="384048" cy="384048"/>
          </a:xfrm>
          <a:prstGeom prst="ellipse">
            <a:avLst/>
          </a:prstGeom>
          <a:solidFill>
            <a:srgbClr val="0B1220"/>
          </a:solidFill>
          <a:ln w="12700">
            <a:solidFill>
              <a:srgbClr val="0B1220"/>
            </a:solidFill>
            <a:prstDash val="solid"/>
          </a:ln>
        </p:spPr>
      </p:sp>
      <p:sp>
        <p:nvSpPr>
          <p:cNvPr id="7" name="text-14"/>
          <p:cNvSpPr txBox="1"/>
          <p:nvPr/>
        </p:nvSpPr>
        <p:spPr>
          <a:xfrm>
            <a:off x="576072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15"/>
          <p:cNvSpPr txBox="1"/>
          <p:nvPr/>
        </p:nvSpPr>
        <p:spPr>
          <a:xfrm>
            <a:off x="6309360" y="1426464"/>
            <a:ext cx="5303520" cy="868680"/>
          </a:xfrm>
          <a:prstGeom prst="rect">
            <a:avLst/>
          </a:prstGeom>
          <a:noFill/>
          <a:ln/>
        </p:spPr>
        <p:txBody>
          <a:bodyPr wrap="square" lIns="0" tIns="0" rIns="0" bIns="0" rtlCol="0" anchor="t"/>
          <a:lstStyle/>
          <a:p>
            <a:pPr indent="0" marL="0">
              <a:buNone/>
            </a:pPr>
            <a:r>
              <a:rPr lang="en-US" sz="1400" b="1" dirty="0">
                <a:solidFill>
                  <a:schemeClr val="tx1"/>
                </a:solidFill>
              </a:rPr>
              <a:t>Pool</a:t>
            </a:r>
            <a:endParaRPr lang="en-US" sz="1400" dirty="0"/>
          </a:p>
          <a:p>
            <a:pPr indent="0" marL="0">
              <a:buNone/>
            </a:pPr>
            <a:r>
              <a:rPr lang="en-US" sz="1400" dirty="0">
                <a:solidFill>
                  <a:schemeClr val="tx2"/>
                </a:solidFill>
              </a:rPr>
              <a:t>Median and rank among all 80 submitted alphas</a:t>
            </a:r>
            <a:endParaRPr lang="en-US" sz="1400" dirty="0"/>
          </a:p>
        </p:txBody>
      </p:sp>
      <p:sp>
        <p:nvSpPr>
          <p:cNvPr id="9" name="step-16"/>
          <p:cNvSpPr/>
          <p:nvPr/>
        </p:nvSpPr>
        <p:spPr>
          <a:xfrm>
            <a:off x="5760720" y="2514600"/>
            <a:ext cx="384048" cy="384048"/>
          </a:xfrm>
          <a:prstGeom prst="ellipse">
            <a:avLst/>
          </a:prstGeom>
          <a:solidFill>
            <a:srgbClr val="0B1220"/>
          </a:solidFill>
          <a:ln w="12700">
            <a:solidFill>
              <a:srgbClr val="0B1220"/>
            </a:solidFill>
            <a:prstDash val="solid"/>
          </a:ln>
        </p:spPr>
      </p:sp>
      <p:sp>
        <p:nvSpPr>
          <p:cNvPr id="10" name="text-17"/>
          <p:cNvSpPr txBox="1"/>
          <p:nvPr/>
        </p:nvSpPr>
        <p:spPr>
          <a:xfrm>
            <a:off x="5760720" y="2514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18"/>
          <p:cNvSpPr txBox="1"/>
          <p:nvPr/>
        </p:nvSpPr>
        <p:spPr>
          <a:xfrm>
            <a:off x="6309360" y="2478024"/>
            <a:ext cx="5303520" cy="868680"/>
          </a:xfrm>
          <a:prstGeom prst="rect">
            <a:avLst/>
          </a:prstGeom>
          <a:noFill/>
          <a:ln/>
        </p:spPr>
        <p:txBody>
          <a:bodyPr wrap="square" lIns="0" tIns="0" rIns="0" bIns="0" rtlCol="0" anchor="t"/>
          <a:lstStyle/>
          <a:p>
            <a:pPr indent="0" marL="0">
              <a:buNone/>
            </a:pPr>
            <a:r>
              <a:rPr lang="en-US" sz="1400" b="1" dirty="0">
                <a:solidFill>
                  <a:schemeClr val="tx1"/>
                </a:solidFill>
              </a:rPr>
              <a:t>Family peers</a:t>
            </a:r>
            <a:endParaRPr lang="en-US" sz="1400" dirty="0"/>
          </a:p>
          <a:p>
            <a:pPr indent="0" marL="0">
              <a:buNone/>
            </a:pPr>
            <a:r>
              <a:rPr lang="en-US" sz="1400" dirty="0">
                <a:solidFill>
                  <a:schemeClr val="tx2"/>
                </a:solidFill>
              </a:rPr>
              <a:t>Median of alphas built on the same mechanism</a:t>
            </a:r>
            <a:endParaRPr lang="en-US" sz="1400" dirty="0"/>
          </a:p>
        </p:txBody>
      </p:sp>
      <p:sp>
        <p:nvSpPr>
          <p:cNvPr id="12" name="step-19"/>
          <p:cNvSpPr/>
          <p:nvPr/>
        </p:nvSpPr>
        <p:spPr>
          <a:xfrm>
            <a:off x="5760720" y="3566160"/>
            <a:ext cx="384048" cy="384048"/>
          </a:xfrm>
          <a:prstGeom prst="ellipse">
            <a:avLst/>
          </a:prstGeom>
          <a:solidFill>
            <a:srgbClr val="0B1220"/>
          </a:solidFill>
          <a:ln w="12700">
            <a:solidFill>
              <a:srgbClr val="0B1220"/>
            </a:solidFill>
            <a:prstDash val="solid"/>
          </a:ln>
        </p:spPr>
      </p:sp>
      <p:sp>
        <p:nvSpPr>
          <p:cNvPr id="13" name="text-20"/>
          <p:cNvSpPr txBox="1"/>
          <p:nvPr/>
        </p:nvSpPr>
        <p:spPr>
          <a:xfrm>
            <a:off x="5760720" y="3566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21"/>
          <p:cNvSpPr txBox="1"/>
          <p:nvPr/>
        </p:nvSpPr>
        <p:spPr>
          <a:xfrm>
            <a:off x="6309360" y="3529584"/>
            <a:ext cx="5303520" cy="868680"/>
          </a:xfrm>
          <a:prstGeom prst="rect">
            <a:avLst/>
          </a:prstGeom>
          <a:noFill/>
          <a:ln/>
        </p:spPr>
        <p:txBody>
          <a:bodyPr wrap="square" lIns="0" tIns="0" rIns="0" bIns="0" rtlCol="0" anchor="t"/>
          <a:lstStyle/>
          <a:p>
            <a:pPr indent="0" marL="0">
              <a:buNone/>
            </a:pPr>
            <a:r>
              <a:rPr lang="en-US" sz="1400" b="1" dirty="0">
                <a:solidFill>
                  <a:schemeClr val="tx1"/>
                </a:solidFill>
              </a:rPr>
              <a:t>Construction</a:t>
            </a:r>
            <a:endParaRPr lang="en-US" sz="1400" dirty="0"/>
          </a:p>
          <a:p>
            <a:pPr indent="0" marL="0">
              <a:buNone/>
            </a:pPr>
            <a:r>
              <a:rPr lang="en-US" sz="1400" dirty="0">
                <a:solidFill>
                  <a:schemeClr val="tx2"/>
                </a:solidFill>
              </a:rPr>
              <a:t>For the composite: each leg alone, and what the maths predicts for the pair</a:t>
            </a:r>
            <a:endParaRPr lang="en-US" sz="1400" dirty="0"/>
          </a:p>
        </p:txBody>
      </p:sp>
      <p:sp>
        <p:nvSpPr>
          <p:cNvPr id="15" name="text-22"/>
          <p:cNvSpPr txBox="1"/>
          <p:nvPr/>
        </p:nvSpPr>
        <p:spPr>
          <a:xfrm>
            <a:off x="548640" y="5257800"/>
            <a:ext cx="2560320" cy="548640"/>
          </a:xfrm>
          <a:prstGeom prst="rect">
            <a:avLst/>
          </a:prstGeom>
          <a:noFill/>
          <a:ln/>
        </p:spPr>
        <p:txBody>
          <a:bodyPr wrap="square" lIns="0" tIns="0" rIns="0" bIns="0" rtlCol="0" anchor="t"/>
          <a:lstStyle/>
          <a:p>
            <a:pPr indent="0" marL="0">
              <a:buNone/>
            </a:pPr>
            <a:r>
              <a:rPr lang="en-US" sz="3600" b="1" dirty="0">
                <a:solidFill>
                  <a:srgbClr val="8A94A6"/>
                </a:solidFill>
              </a:rPr>
              <a:t>0.102</a:t>
            </a:r>
            <a:endParaRPr lang="en-US" sz="3600" dirty="0"/>
          </a:p>
        </p:txBody>
      </p:sp>
      <p:sp>
        <p:nvSpPr>
          <p:cNvPr id="16" name="text-23"/>
          <p:cNvSpPr txBox="1"/>
          <p:nvPr/>
        </p:nvSpPr>
        <p:spPr>
          <a:xfrm>
            <a:off x="548640" y="5806440"/>
            <a:ext cx="2560320" cy="320040"/>
          </a:xfrm>
          <a:prstGeom prst="rect">
            <a:avLst/>
          </a:prstGeom>
          <a:noFill/>
          <a:ln/>
        </p:spPr>
        <p:txBody>
          <a:bodyPr wrap="square" lIns="0" tIns="0" rIns="0" bIns="0" rtlCol="0" anchor="t"/>
          <a:lstStyle/>
          <a:p>
            <a:pPr indent="0" marL="0">
              <a:buNone/>
            </a:pPr>
            <a:r>
              <a:rPr lang="en-US" sz="1200" dirty="0">
                <a:solidFill>
                  <a:schemeClr val="tx2"/>
                </a:solidFill>
              </a:rPr>
              <a:t>Median IR</a:t>
            </a:r>
            <a:endParaRPr lang="en-US" sz="1200" dirty="0"/>
          </a:p>
        </p:txBody>
      </p:sp>
      <p:sp>
        <p:nvSpPr>
          <p:cNvPr id="17" name="text-24"/>
          <p:cNvSpPr txBox="1"/>
          <p:nvPr/>
        </p:nvSpPr>
        <p:spPr>
          <a:xfrm>
            <a:off x="3364992" y="5257800"/>
            <a:ext cx="2560320" cy="548640"/>
          </a:xfrm>
          <a:prstGeom prst="rect">
            <a:avLst/>
          </a:prstGeom>
          <a:noFill/>
          <a:ln/>
        </p:spPr>
        <p:txBody>
          <a:bodyPr wrap="square" lIns="0" tIns="0" rIns="0" bIns="0" rtlCol="0" anchor="t"/>
          <a:lstStyle/>
          <a:p>
            <a:pPr indent="0" marL="0">
              <a:buNone/>
            </a:pPr>
            <a:r>
              <a:rPr lang="en-US" sz="3600" b="1" dirty="0">
                <a:solidFill>
                  <a:srgbClr val="8A94A6"/>
                </a:solidFill>
              </a:rPr>
              <a:t>0.96</a:t>
            </a:r>
            <a:endParaRPr lang="en-US" sz="3600" dirty="0"/>
          </a:p>
        </p:txBody>
      </p:sp>
      <p:sp>
        <p:nvSpPr>
          <p:cNvPr id="18" name="text-25"/>
          <p:cNvSpPr txBox="1"/>
          <p:nvPr/>
        </p:nvSpPr>
        <p:spPr>
          <a:xfrm>
            <a:off x="3364992" y="5806440"/>
            <a:ext cx="2560320" cy="320040"/>
          </a:xfrm>
          <a:prstGeom prst="rect">
            <a:avLst/>
          </a:prstGeom>
          <a:noFill/>
          <a:ln/>
        </p:spPr>
        <p:txBody>
          <a:bodyPr wrap="square" lIns="0" tIns="0" rIns="0" bIns="0" rtlCol="0" anchor="t"/>
          <a:lstStyle/>
          <a:p>
            <a:pPr indent="0" marL="0">
              <a:buNone/>
            </a:pPr>
            <a:r>
              <a:rPr lang="en-US" sz="1200" dirty="0">
                <a:solidFill>
                  <a:schemeClr val="tx2"/>
                </a:solidFill>
              </a:rPr>
              <a:t>Median turnover (TVR)</a:t>
            </a:r>
            <a:endParaRPr lang="en-US" sz="1200" dirty="0"/>
          </a:p>
        </p:txBody>
      </p:sp>
      <p:sp>
        <p:nvSpPr>
          <p:cNvPr id="19" name="text-26"/>
          <p:cNvSpPr txBox="1"/>
          <p:nvPr/>
        </p:nvSpPr>
        <p:spPr>
          <a:xfrm>
            <a:off x="6181344" y="5257800"/>
            <a:ext cx="2560320" cy="548640"/>
          </a:xfrm>
          <a:prstGeom prst="rect">
            <a:avLst/>
          </a:prstGeom>
          <a:noFill/>
          <a:ln/>
        </p:spPr>
        <p:txBody>
          <a:bodyPr wrap="square" lIns="0" tIns="0" rIns="0" bIns="0" rtlCol="0" anchor="t"/>
          <a:lstStyle/>
          <a:p>
            <a:pPr indent="0" marL="0">
              <a:buNone/>
            </a:pPr>
            <a:r>
              <a:rPr lang="en-US" sz="3600" b="1" dirty="0">
                <a:solidFill>
                  <a:srgbClr val="8A94A6"/>
                </a:solidFill>
              </a:rPr>
              <a:t>0.118</a:t>
            </a:r>
            <a:endParaRPr lang="en-US" sz="3600" dirty="0"/>
          </a:p>
        </p:txBody>
      </p:sp>
      <p:sp>
        <p:nvSpPr>
          <p:cNvPr id="20" name="text-27"/>
          <p:cNvSpPr txBox="1"/>
          <p:nvPr/>
        </p:nvSpPr>
        <p:spPr>
          <a:xfrm>
            <a:off x="6181344" y="5806440"/>
            <a:ext cx="2560320" cy="320040"/>
          </a:xfrm>
          <a:prstGeom prst="rect">
            <a:avLst/>
          </a:prstGeom>
          <a:noFill/>
          <a:ln/>
        </p:spPr>
        <p:txBody>
          <a:bodyPr wrap="square" lIns="0" tIns="0" rIns="0" bIns="0" rtlCol="0" anchor="t"/>
          <a:lstStyle/>
          <a:p>
            <a:pPr indent="0" marL="0">
              <a:buNone/>
            </a:pPr>
            <a:r>
              <a:rPr lang="en-US" sz="1200" dirty="0">
                <a:solidFill>
                  <a:schemeClr val="tx2"/>
                </a:solidFill>
              </a:rPr>
              <a:t>Median IR/√TVR</a:t>
            </a:r>
            <a:endParaRPr lang="en-US" sz="1200" dirty="0"/>
          </a:p>
        </p:txBody>
      </p:sp>
      <p:sp>
        <p:nvSpPr>
          <p:cNvPr id="21" name="text-28"/>
          <p:cNvSpPr txBox="1"/>
          <p:nvPr/>
        </p:nvSpPr>
        <p:spPr>
          <a:xfrm>
            <a:off x="8997696" y="5257800"/>
            <a:ext cx="2560320" cy="548640"/>
          </a:xfrm>
          <a:prstGeom prst="rect">
            <a:avLst/>
          </a:prstGeom>
          <a:noFill/>
          <a:ln/>
        </p:spPr>
        <p:txBody>
          <a:bodyPr wrap="square" lIns="0" tIns="0" rIns="0" bIns="0" rtlCol="0" anchor="t"/>
          <a:lstStyle/>
          <a:p>
            <a:pPr indent="0" marL="0">
              <a:buNone/>
            </a:pPr>
            <a:r>
              <a:rPr lang="en-US" sz="3600" b="1" dirty="0">
                <a:solidFill>
                  <a:srgbClr val="8A94A6"/>
                </a:solidFill>
              </a:rPr>
              <a:t>10.8</a:t>
            </a:r>
            <a:endParaRPr lang="en-US" sz="3600" dirty="0"/>
          </a:p>
        </p:txBody>
      </p:sp>
      <p:sp>
        <p:nvSpPr>
          <p:cNvPr id="22" name="text-29"/>
          <p:cNvSpPr txBox="1"/>
          <p:nvPr/>
        </p:nvSpPr>
        <p:spPr>
          <a:xfrm>
            <a:off x="8997696" y="5806440"/>
            <a:ext cx="2560320" cy="320040"/>
          </a:xfrm>
          <a:prstGeom prst="rect">
            <a:avLst/>
          </a:prstGeom>
          <a:noFill/>
          <a:ln/>
        </p:spPr>
        <p:txBody>
          <a:bodyPr wrap="square" lIns="0" tIns="0" rIns="0" bIns="0" rtlCol="0" anchor="t"/>
          <a:lstStyle/>
          <a:p>
            <a:pPr indent="0" marL="0">
              <a:buNone/>
            </a:pPr>
            <a:r>
              <a:rPr lang="en-US" sz="1200" dirty="0">
                <a:solidFill>
                  <a:schemeClr val="tx2"/>
                </a:solidFill>
              </a:rPr>
              <a:t>Median drawdown</a:t>
            </a:r>
            <a:endParaRPr lang="en-US" sz="1200" dirty="0"/>
          </a:p>
        </p:txBody>
      </p:sp>
      <p:sp>
        <p:nvSpPr>
          <p:cNvPr id="23" name="text-30"/>
          <p:cNvSpPr txBox="1"/>
          <p:nvPr/>
        </p:nvSpPr>
        <p:spPr>
          <a:xfrm>
            <a:off x="6309360" y="4572000"/>
            <a:ext cx="5303520" cy="457200"/>
          </a:xfrm>
          <a:prstGeom prst="rect">
            <a:avLst/>
          </a:prstGeom>
          <a:noFill/>
          <a:ln/>
        </p:spPr>
        <p:txBody>
          <a:bodyPr wrap="square" lIns="0" tIns="0" rIns="0" bIns="0" rtlCol="0" anchor="t"/>
          <a:lstStyle/>
          <a:p>
            <a:pPr indent="0" marL="0">
              <a:buNone/>
            </a:pPr>
            <a:r>
              <a:rPr lang="en-US" sz="1100" dirty="0">
                <a:solidFill>
                  <a:schemeClr val="tx2"/>
                </a:solidFill>
              </a:rPr>
              <a:t>IR = mean ÷ st. dev. of daily PnL. TVR = daily turnover. IR/√TVR = the platform score. Ret/DD = return ÷ max drawdown.</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560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t"/>
          <a:lstStyle/>
          <a:p>
            <a:pPr algn="l" indent="0" marL="0">
              <a:buNone/>
            </a:pPr>
            <a:r>
              <a:rPr lang="en-US" sz="3000" b="1" dirty="0">
                <a:solidFill>
                  <a:schemeClr val="tx1"/>
                </a:solidFill>
              </a:rPr>
              <a:t>Momentum: ride earnings reactions that volume confirmed</a:t>
            </a:r>
            <a:endParaRPr lang="en-US" sz="3000" dirty="0"/>
          </a:p>
        </p:txBody>
      </p:sp>
      <p:sp>
        <p:nvSpPr>
          <p:cNvPr id="3" name="tag-31"/>
          <p:cNvSpPr/>
          <p:nvPr/>
        </p:nvSpPr>
        <p:spPr>
          <a:xfrm>
            <a:off x="548640" y="1188720"/>
            <a:ext cx="2194560" cy="310896"/>
          </a:xfrm>
          <a:prstGeom prst="roundRect">
            <a:avLst>
              <a:gd name="adj" fmla="val 11765"/>
            </a:avLst>
          </a:prstGeom>
          <a:solidFill>
            <a:srgbClr val="1F4FD8"/>
          </a:solidFill>
          <a:ln w="12700">
            <a:solidFill>
              <a:srgbClr val="1F4FD8"/>
            </a:solidFill>
            <a:prstDash val="solid"/>
          </a:ln>
        </p:spPr>
      </p:sp>
      <p:sp>
        <p:nvSpPr>
          <p:cNvPr id="4" name="text-32"/>
          <p:cNvSpPr txBox="1"/>
          <p:nvPr/>
        </p:nvSpPr>
        <p:spPr>
          <a:xfrm>
            <a:off x="548640" y="1188720"/>
            <a:ext cx="2194560" cy="310896"/>
          </a:xfrm>
          <a:prstGeom prst="rect">
            <a:avLst/>
          </a:prstGeom>
          <a:noFill/>
          <a:ln/>
        </p:spPr>
        <p:txBody>
          <a:bodyPr wrap="square" lIns="0" tIns="0" rIns="0" bIns="0" rtlCol="0" anchor="ctr"/>
          <a:lstStyle/>
          <a:p>
            <a:pPr algn="ctr" indent="0" marL="0">
              <a:buNone/>
            </a:pPr>
            <a:r>
              <a:rPr lang="en-US" sz="1200" b="1" dirty="0">
                <a:solidFill>
                  <a:schemeClr val="bg1"/>
                </a:solidFill>
              </a:rPr>
              <a:t>361878 · Momentum</a:t>
            </a:r>
            <a:endParaRPr lang="en-US" sz="1200" dirty="0"/>
          </a:p>
        </p:txBody>
      </p:sp>
      <p:sp>
        <p:nvSpPr>
          <p:cNvPr id="5" name="step-33"/>
          <p:cNvSpPr/>
          <p:nvPr/>
        </p:nvSpPr>
        <p:spPr>
          <a:xfrm>
            <a:off x="548640" y="1783080"/>
            <a:ext cx="384048" cy="384048"/>
          </a:xfrm>
          <a:prstGeom prst="ellipse">
            <a:avLst/>
          </a:prstGeom>
          <a:solidFill>
            <a:srgbClr val="1F4FD8"/>
          </a:solidFill>
          <a:ln w="12700">
            <a:solidFill>
              <a:srgbClr val="1F4FD8"/>
            </a:solidFill>
            <a:prstDash val="solid"/>
          </a:ln>
        </p:spPr>
      </p:sp>
      <p:sp>
        <p:nvSpPr>
          <p:cNvPr id="6" name="text-34"/>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35"/>
          <p:cNvSpPr txBox="1"/>
          <p:nvPr/>
        </p:nvSpPr>
        <p:spPr>
          <a:xfrm>
            <a:off x="1097280" y="1746504"/>
            <a:ext cx="4754880" cy="868680"/>
          </a:xfrm>
          <a:prstGeom prst="rect">
            <a:avLst/>
          </a:prstGeom>
          <a:noFill/>
          <a:ln/>
        </p:spPr>
        <p:txBody>
          <a:bodyPr wrap="square" lIns="0" tIns="0" rIns="0" bIns="0" rtlCol="0" anchor="t"/>
          <a:lstStyle/>
          <a:p>
            <a:pPr indent="0" marL="0">
              <a:buNone/>
            </a:pPr>
            <a:r>
              <a:rPr lang="en-US" sz="1400" b="1" dirty="0">
                <a:solidFill>
                  <a:schemeClr val="tx1"/>
                </a:solidFill>
              </a:rPr>
              <a:t>Spot the event</a:t>
            </a:r>
            <a:endParaRPr lang="en-US" sz="1400" dirty="0"/>
          </a:p>
          <a:p>
            <a:pPr indent="0" marL="0">
              <a:buNone/>
            </a:pPr>
            <a:r>
              <a:rPr lang="en-US" sz="1400" dirty="0">
                <a:solidFill>
                  <a:schemeClr val="tx2"/>
                </a:solidFill>
              </a:rPr>
              <a:t>Days-to-next-earnings resets by &gt;10, or net income changes: a report just landed</a:t>
            </a:r>
            <a:endParaRPr lang="en-US" sz="1400" dirty="0"/>
          </a:p>
        </p:txBody>
      </p:sp>
      <p:sp>
        <p:nvSpPr>
          <p:cNvPr id="8" name="step-36"/>
          <p:cNvSpPr/>
          <p:nvPr/>
        </p:nvSpPr>
        <p:spPr>
          <a:xfrm>
            <a:off x="548640" y="2697480"/>
            <a:ext cx="384048" cy="384048"/>
          </a:xfrm>
          <a:prstGeom prst="ellipse">
            <a:avLst/>
          </a:prstGeom>
          <a:solidFill>
            <a:srgbClr val="1F4FD8"/>
          </a:solidFill>
          <a:ln w="12700">
            <a:solidFill>
              <a:srgbClr val="1F4FD8"/>
            </a:solidFill>
            <a:prstDash val="solid"/>
          </a:ln>
        </p:spPr>
      </p:sp>
      <p:sp>
        <p:nvSpPr>
          <p:cNvPr id="9" name="text-37"/>
          <p:cNvSpPr txBox="1"/>
          <p:nvPr/>
        </p:nvSpPr>
        <p:spPr>
          <a:xfrm>
            <a:off x="548640" y="2697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38"/>
          <p:cNvSpPr txBox="1"/>
          <p:nvPr/>
        </p:nvSpPr>
        <p:spPr>
          <a:xfrm>
            <a:off x="1097280" y="2660904"/>
            <a:ext cx="4754880" cy="868680"/>
          </a:xfrm>
          <a:prstGeom prst="rect">
            <a:avLst/>
          </a:prstGeom>
          <a:noFill/>
          <a:ln/>
        </p:spPr>
        <p:txBody>
          <a:bodyPr wrap="square" lIns="0" tIns="0" rIns="0" bIns="0" rtlCol="0" anchor="t"/>
          <a:lstStyle/>
          <a:p>
            <a:pPr indent="0" marL="0">
              <a:buNone/>
            </a:pPr>
            <a:r>
              <a:rPr lang="en-US" sz="1400" b="1" dirty="0">
                <a:solidFill>
                  <a:schemeClr val="tx1"/>
                </a:solidFill>
              </a:rPr>
              <a:t>Score the reaction</a:t>
            </a:r>
            <a:endParaRPr lang="en-US" sz="1400" dirty="0"/>
          </a:p>
          <a:p>
            <a:pPr indent="0" marL="0">
              <a:buNone/>
            </a:pPr>
            <a:r>
              <a:rPr lang="en-US" sz="1400" dirty="0">
                <a:solidFill>
                  <a:schemeClr val="tx2"/>
                </a:solidFill>
              </a:rPr>
              <a:t>Return ÷ its 60-day volatility × volume ÷ its 60-day average</a:t>
            </a:r>
            <a:endParaRPr lang="en-US" sz="1400" dirty="0"/>
          </a:p>
        </p:txBody>
      </p:sp>
      <p:sp>
        <p:nvSpPr>
          <p:cNvPr id="11" name="step-39"/>
          <p:cNvSpPr/>
          <p:nvPr/>
        </p:nvSpPr>
        <p:spPr>
          <a:xfrm>
            <a:off x="548640" y="3611880"/>
            <a:ext cx="384048" cy="384048"/>
          </a:xfrm>
          <a:prstGeom prst="ellipse">
            <a:avLst/>
          </a:prstGeom>
          <a:solidFill>
            <a:srgbClr val="1F4FD8"/>
          </a:solidFill>
          <a:ln w="12700">
            <a:solidFill>
              <a:srgbClr val="1F4FD8"/>
            </a:solidFill>
            <a:prstDash val="solid"/>
          </a:ln>
        </p:spPr>
      </p:sp>
      <p:sp>
        <p:nvSpPr>
          <p:cNvPr id="12" name="text-40"/>
          <p:cNvSpPr txBox="1"/>
          <p:nvPr/>
        </p:nvSpPr>
        <p:spPr>
          <a:xfrm>
            <a:off x="548640" y="3611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41"/>
          <p:cNvSpPr txBox="1"/>
          <p:nvPr/>
        </p:nvSpPr>
        <p:spPr>
          <a:xfrm>
            <a:off x="1097280" y="3575304"/>
            <a:ext cx="4754880" cy="868680"/>
          </a:xfrm>
          <a:prstGeom prst="rect">
            <a:avLst/>
          </a:prstGeom>
          <a:noFill/>
          <a:ln/>
        </p:spPr>
        <p:txBody>
          <a:bodyPr wrap="square" lIns="0" tIns="0" rIns="0" bIns="0" rtlCol="0" anchor="t"/>
          <a:lstStyle/>
          <a:p>
            <a:pPr indent="0" marL="0">
              <a:buNone/>
            </a:pPr>
            <a:r>
              <a:rPr lang="en-US" sz="1400" b="1" dirty="0">
                <a:solidFill>
                  <a:schemeClr val="tx1"/>
                </a:solidFill>
              </a:rPr>
              <a:t>Hold it for 20 days, same direction</a:t>
            </a:r>
            <a:endParaRPr lang="en-US" sz="1400" dirty="0"/>
          </a:p>
          <a:p>
            <a:pPr indent="0" marL="0">
              <a:buNone/>
            </a:pPr>
            <a:r>
              <a:rPr lang="en-US" sz="1400" dirty="0">
                <a:solidFill>
                  <a:schemeClr val="tx2"/>
                </a:solidFill>
              </a:rPr>
              <a:t>Under-reaction to earnings news: post-earnings drift (Bernard &amp; Thomas, 1989)</a:t>
            </a:r>
            <a:endParaRPr lang="en-US" sz="1400" dirty="0"/>
          </a:p>
        </p:txBody>
      </p:sp>
      <p:sp>
        <p:nvSpPr>
          <p:cNvPr id="14" name="card-42"/>
          <p:cNvSpPr/>
          <p:nvPr/>
        </p:nvSpPr>
        <p:spPr>
          <a:xfrm>
            <a:off x="548640" y="4617720"/>
            <a:ext cx="5303520" cy="1097280"/>
          </a:xfrm>
          <a:prstGeom prst="roundRect">
            <a:avLst>
              <a:gd name="adj" fmla="val 6667"/>
            </a:avLst>
          </a:prstGeom>
          <a:solidFill>
            <a:schemeClr val="bg2"/>
          </a:solidFill>
          <a:ln w="12700">
            <a:solidFill>
              <a:schemeClr val="bg2"/>
            </a:solidFill>
            <a:prstDash val="solid"/>
          </a:ln>
        </p:spPr>
      </p:sp>
      <p:sp>
        <p:nvSpPr>
          <p:cNvPr id="15" name="text-43"/>
          <p:cNvSpPr txBox="1"/>
          <p:nvPr/>
        </p:nvSpPr>
        <p:spPr>
          <a:xfrm>
            <a:off x="731520" y="4754880"/>
            <a:ext cx="4937760" cy="82296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flow  = ts_sum(event × (ret1/ts_std(ret1,60))</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 (volume/ts_mean(volume,60)), 20)</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alpha = cs_zscore(2 × cs_zscore(flow) + earnings_prox)</a:t>
            </a:r>
            <a:endParaRPr lang="en-US" sz="1200" dirty="0"/>
          </a:p>
        </p:txBody>
      </p:sp>
      <p:sp>
        <p:nvSpPr>
          <p:cNvPr id="16" name="text-44"/>
          <p:cNvSpPr txBox="1"/>
          <p:nvPr/>
        </p:nvSpPr>
        <p:spPr>
          <a:xfrm>
            <a:off x="548640" y="5806440"/>
            <a:ext cx="5303520" cy="457200"/>
          </a:xfrm>
          <a:prstGeom prst="rect">
            <a:avLst/>
          </a:prstGeom>
          <a:noFill/>
          <a:ln/>
        </p:spPr>
        <p:txBody>
          <a:bodyPr wrap="square" lIns="0" tIns="0" rIns="0" bIns="0" rtlCol="0" anchor="t"/>
          <a:lstStyle/>
          <a:p>
            <a:pPr indent="0" marL="0">
              <a:buNone/>
            </a:pPr>
            <a:r>
              <a:rPr lang="en-US" sz="1100" dirty="0">
                <a:solidFill>
                  <a:schemeClr val="tx2"/>
                </a:solidFill>
              </a:rPr>
              <a:t>earnings_prox = cs_remove_middle(1/days_to_next_earnings, 0.5): a smaller pre-announcement risk premium</a:t>
            </a:r>
            <a:endParaRPr lang="en-US" sz="1100" dirty="0"/>
          </a:p>
        </p:txBody>
      </p:sp>
      <p:graphicFrame>
        <p:nvGraphicFramePr>
          <p:cNvPr id="4" name="table-45"/>
          <p:cNvGraphicFramePr>
            <a:graphicFrameLocks noGrp="1"/>
          </p:cNvGraphicFramePr>
          <p:nvPr>
            <p:extLst>
              <p:ext uri="{D42A27DB-BD31-4B8C-83A1-F6EECF244321}">
                <p14:modId xmlns:p14="http://schemas.microsoft.com/office/powerpoint/2010/main" val="1579011935"/>
              </p:ext>
            </p:extLst>
          </p:nvPr>
        </p:nvGraphicFramePr>
        <p:xfrm>
          <a:off x="6263640" y="1188720"/>
          <a:ext cx="5349240" cy="914400"/>
        </p:xfrm>
        <a:graphic>
          <a:graphicData uri="http://schemas.openxmlformats.org/drawingml/2006/table">
            <a:tbl>
              <a:tblPr/>
              <a:tblGrid>
                <a:gridCol w="1176833"/>
                <a:gridCol w="1337310"/>
                <a:gridCol w="1016356"/>
                <a:gridCol w="909371"/>
                <a:gridCol w="909371"/>
              </a:tblGrid>
              <a:tr h="384048">
                <a:tc>
                  <a:txBody>
                    <a:bodyPr/>
                    <a:lstStyle/>
                    <a:p>
                      <a:pPr indent="0" marL="0">
                        <a:buNone/>
                      </a:pPr>
                      <a:r>
                        <a:rPr lang="en-US" sz="1100" b="1" dirty="0">
                          <a:solidFill>
                            <a:srgbClr val="556070"/>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1F4FD8"/>
                          </a:solidFill>
                          <a:latin typeface="Calibri" pitchFamily="34" charset="0"/>
                          <a:ea typeface="Calibri" pitchFamily="34" charset="-122"/>
                          <a:cs typeface="Calibri" pitchFamily="34" charset="-120"/>
                        </a:rPr>
                        <a:t>361878</a:t>
                      </a:r>
                      <a:endParaRPr lang="en-US" sz="11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556070"/>
                          </a:solidFill>
                          <a:latin typeface="Calibri" pitchFamily="34" charset="0"/>
                          <a:ea typeface="Calibri" pitchFamily="34" charset="-122"/>
                          <a:cs typeface="Calibri" pitchFamily="34" charset="-120"/>
                        </a:rPr>
                        <a:t>Family C med.</a:t>
                      </a:r>
                      <a:endParaRPr lang="en-US" sz="11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556070"/>
                          </a:solidFill>
                          <a:latin typeface="Calibri" pitchFamily="34" charset="0"/>
                          <a:ea typeface="Calibri" pitchFamily="34" charset="-122"/>
                          <a:cs typeface="Calibri" pitchFamily="34" charset="-120"/>
                        </a:rPr>
                        <a:t>Pool median</a:t>
                      </a:r>
                      <a:endParaRPr lang="en-US" sz="11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556070"/>
                          </a:solidFill>
                          <a:latin typeface="Calibri" pitchFamily="34" charset="0"/>
                          <a:ea typeface="Calibri" pitchFamily="34" charset="-122"/>
                          <a:cs typeface="Calibri" pitchFamily="34" charset="-120"/>
                        </a:rPr>
                        <a:t>Rank / 80</a:t>
                      </a:r>
                      <a:endParaRPr lang="en-US" sz="11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IR</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0.074</a:t>
                      </a:r>
                      <a:pPr indent="0" marL="0">
                        <a:buNone/>
                      </a:pPr>
                      <a:r>
                        <a:rPr lang="en-US" sz="1400" b="1" dirty="0">
                          <a:solidFill>
                            <a:srgbClr val="B42318"/>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0.088</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0.102</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76</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Turnover</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0.368</a:t>
                      </a:r>
                      <a:pPr indent="0" marL="0">
                        <a:buNone/>
                      </a:pPr>
                      <a:r>
                        <a:rPr lang="en-US" sz="1400" b="1" dirty="0">
                          <a:solidFill>
                            <a:srgbClr val="0E7C6B"/>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0.984</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0.958</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IR/√TVR</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0.121</a:t>
                      </a:r>
                      <a:pPr indent="0" marL="0">
                        <a:buNone/>
                      </a:pPr>
                      <a:r>
                        <a:rPr lang="en-US" sz="1400" b="1" dirty="0">
                          <a:solidFill>
                            <a:srgbClr val="0E7C6B"/>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0.099</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0.118</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Drawdown</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22.4</a:t>
                      </a:r>
                      <a:pPr indent="0" marL="0">
                        <a:buNone/>
                      </a:pPr>
                      <a:r>
                        <a:rPr lang="en-US" sz="1400" b="1" dirty="0">
                          <a:solidFill>
                            <a:srgbClr val="B42318"/>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76</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8404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Ret/DD</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0.0027</a:t>
                      </a:r>
                      <a:pPr indent="0" marL="0">
                        <a:buNone/>
                      </a:pPr>
                      <a:r>
                        <a:rPr lang="en-US" sz="1400" b="1" dirty="0">
                          <a:solidFill>
                            <a:srgbClr val="B42318"/>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0.0053</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0.0062</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79</a:t>
                      </a:r>
                      <a:endParaRPr lang="en-US" sz="1400" dirty="0">
                        <a:latin typeface="Calibri" charset="0"/>
                        <a:ea typeface="Calibri" charset="0"/>
                        <a:cs typeface="Calibri" charset="0"/>
                      </a:endParaRPr>
                    </a:p>
                  </a:txBody>
                  <a:tcPr marL="73152" marR="73152"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8" name="card-46"/>
          <p:cNvSpPr/>
          <p:nvPr/>
        </p:nvSpPr>
        <p:spPr>
          <a:xfrm>
            <a:off x="6263640" y="3657600"/>
            <a:ext cx="5349240" cy="2286000"/>
          </a:xfrm>
          <a:prstGeom prst="roundRect">
            <a:avLst>
              <a:gd name="adj" fmla="val 3200"/>
            </a:avLst>
          </a:prstGeom>
          <a:solidFill>
            <a:schemeClr val="bg2"/>
          </a:solidFill>
          <a:ln w="12700">
            <a:solidFill>
              <a:schemeClr val="bg2"/>
            </a:solidFill>
            <a:prstDash val="solid"/>
          </a:ln>
        </p:spPr>
      </p:sp>
      <p:sp>
        <p:nvSpPr>
          <p:cNvPr id="19" name="text-47"/>
          <p:cNvSpPr txBox="1"/>
          <p:nvPr/>
        </p:nvSpPr>
        <p:spPr>
          <a:xfrm>
            <a:off x="6492240" y="3840480"/>
            <a:ext cx="4937760" cy="201168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Verdict: weak alone, valuable in the book</a:t>
            </a:r>
            <a:endParaRPr lang="en-US" sz="1400" dirty="0"/>
          </a:p>
          <a:p>
            <a:pPr indent="0" marL="0">
              <a:spcAft>
                <a:spcPts val="600"/>
              </a:spcAft>
              <a:buNone/>
            </a:pPr>
            <a:r>
              <a:rPr lang="en-US" sz="1400" dirty="0">
                <a:solidFill>
                  <a:schemeClr val="tx2"/>
                </a:solidFill>
              </a:rPr>
              <a:t>Lowest IR in its family and a deep drawdown, but it turns over less than a third as much as its peers, so it still beats the pool median score. Its sign is continuation, the opposite of every reversal signal on the account, which is what makes it worth holding next to them.</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560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t"/>
          <a:lstStyle/>
          <a:p>
            <a:pPr algn="l" indent="0" marL="0">
              <a:buNone/>
            </a:pPr>
            <a:r>
              <a:rPr lang="en-US" sz="3000" b="1" dirty="0">
                <a:solidFill>
                  <a:schemeClr val="tx1"/>
                </a:solidFill>
              </a:rPr>
              <a:t>Mean reversion: get paid to absorb forced flow</a:t>
            </a:r>
            <a:endParaRPr lang="en-US" sz="3000" dirty="0"/>
          </a:p>
        </p:txBody>
      </p:sp>
      <p:sp>
        <p:nvSpPr>
          <p:cNvPr id="3" name="tag-48"/>
          <p:cNvSpPr/>
          <p:nvPr/>
        </p:nvSpPr>
        <p:spPr>
          <a:xfrm>
            <a:off x="548640" y="1188720"/>
            <a:ext cx="2377440" cy="310896"/>
          </a:xfrm>
          <a:prstGeom prst="roundRect">
            <a:avLst>
              <a:gd name="adj" fmla="val 11765"/>
            </a:avLst>
          </a:prstGeom>
          <a:solidFill>
            <a:srgbClr val="C2410C"/>
          </a:solidFill>
          <a:ln w="12700">
            <a:solidFill>
              <a:srgbClr val="C2410C"/>
            </a:solidFill>
            <a:prstDash val="solid"/>
          </a:ln>
        </p:spPr>
      </p:sp>
      <p:sp>
        <p:nvSpPr>
          <p:cNvPr id="4" name="text-49"/>
          <p:cNvSpPr txBox="1"/>
          <p:nvPr/>
        </p:nvSpPr>
        <p:spPr>
          <a:xfrm>
            <a:off x="548640" y="1188720"/>
            <a:ext cx="2377440" cy="310896"/>
          </a:xfrm>
          <a:prstGeom prst="rect">
            <a:avLst/>
          </a:prstGeom>
          <a:noFill/>
          <a:ln/>
        </p:spPr>
        <p:txBody>
          <a:bodyPr wrap="square" lIns="0" tIns="0" rIns="0" bIns="0" rtlCol="0" anchor="ctr"/>
          <a:lstStyle/>
          <a:p>
            <a:pPr algn="ctr" indent="0" marL="0">
              <a:buNone/>
            </a:pPr>
            <a:r>
              <a:rPr lang="en-US" sz="1200" b="1" dirty="0">
                <a:solidFill>
                  <a:schemeClr val="bg1"/>
                </a:solidFill>
              </a:rPr>
              <a:t>320000 · Mean reversion</a:t>
            </a:r>
            <a:endParaRPr lang="en-US" sz="1200" dirty="0"/>
          </a:p>
        </p:txBody>
      </p:sp>
      <p:sp>
        <p:nvSpPr>
          <p:cNvPr id="5" name="step-50"/>
          <p:cNvSpPr/>
          <p:nvPr/>
        </p:nvSpPr>
        <p:spPr>
          <a:xfrm>
            <a:off x="548640" y="1783080"/>
            <a:ext cx="384048" cy="384048"/>
          </a:xfrm>
          <a:prstGeom prst="ellipse">
            <a:avLst/>
          </a:prstGeom>
          <a:solidFill>
            <a:srgbClr val="C2410C"/>
          </a:solidFill>
          <a:ln w="12700">
            <a:solidFill>
              <a:srgbClr val="C2410C"/>
            </a:solidFill>
            <a:prstDash val="solid"/>
          </a:ln>
        </p:spPr>
      </p:sp>
      <p:sp>
        <p:nvSpPr>
          <p:cNvPr id="6" name="text-51"/>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52"/>
          <p:cNvSpPr txBox="1"/>
          <p:nvPr/>
        </p:nvSpPr>
        <p:spPr>
          <a:xfrm>
            <a:off x="1097280" y="1746504"/>
            <a:ext cx="4572000" cy="868680"/>
          </a:xfrm>
          <a:prstGeom prst="rect">
            <a:avLst/>
          </a:prstGeom>
          <a:noFill/>
          <a:ln/>
        </p:spPr>
        <p:txBody>
          <a:bodyPr wrap="square" lIns="0" tIns="0" rIns="0" bIns="0" rtlCol="0" anchor="t"/>
          <a:lstStyle/>
          <a:p>
            <a:pPr indent="0" marL="0">
              <a:buNone/>
            </a:pPr>
            <a:r>
              <a:rPr lang="en-US" sz="1400" b="1" dirty="0">
                <a:solidFill>
                  <a:schemeClr val="tx1"/>
                </a:solidFill>
              </a:rPr>
              <a:t>Displaced at the open</a:t>
            </a:r>
            <a:endParaRPr lang="en-US" sz="1400" dirty="0"/>
          </a:p>
          <a:p>
            <a:pPr indent="0" marL="0">
              <a:buNone/>
            </a:pPr>
            <a:r>
              <a:rPr lang="en-US" sz="1400" dirty="0">
                <a:solidFill>
                  <a:schemeClr val="tx2"/>
                </a:solidFill>
              </a:rPr>
              <a:t>Open far from the 10-day VWAP: overnight order imbalance</a:t>
            </a:r>
            <a:endParaRPr lang="en-US" sz="1400" dirty="0"/>
          </a:p>
        </p:txBody>
      </p:sp>
      <p:sp>
        <p:nvSpPr>
          <p:cNvPr id="8" name="step-53"/>
          <p:cNvSpPr/>
          <p:nvPr/>
        </p:nvSpPr>
        <p:spPr>
          <a:xfrm>
            <a:off x="548640" y="2697480"/>
            <a:ext cx="384048" cy="384048"/>
          </a:xfrm>
          <a:prstGeom prst="ellipse">
            <a:avLst/>
          </a:prstGeom>
          <a:solidFill>
            <a:srgbClr val="C2410C"/>
          </a:solidFill>
          <a:ln w="12700">
            <a:solidFill>
              <a:srgbClr val="C2410C"/>
            </a:solidFill>
            <a:prstDash val="solid"/>
          </a:ln>
        </p:spPr>
      </p:sp>
      <p:sp>
        <p:nvSpPr>
          <p:cNvPr id="9" name="text-54"/>
          <p:cNvSpPr txBox="1"/>
          <p:nvPr/>
        </p:nvSpPr>
        <p:spPr>
          <a:xfrm>
            <a:off x="548640" y="2697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55"/>
          <p:cNvSpPr txBox="1"/>
          <p:nvPr/>
        </p:nvSpPr>
        <p:spPr>
          <a:xfrm>
            <a:off x="1097280" y="2660904"/>
            <a:ext cx="4572000" cy="868680"/>
          </a:xfrm>
          <a:prstGeom prst="rect">
            <a:avLst/>
          </a:prstGeom>
          <a:noFill/>
          <a:ln/>
        </p:spPr>
        <p:txBody>
          <a:bodyPr wrap="square" lIns="0" tIns="0" rIns="0" bIns="0" rtlCol="0" anchor="t"/>
          <a:lstStyle/>
          <a:p>
            <a:pPr indent="0" marL="0">
              <a:buNone/>
            </a:pPr>
            <a:r>
              <a:rPr lang="en-US" sz="1400" b="1" dirty="0">
                <a:solidFill>
                  <a:schemeClr val="tx1"/>
                </a:solidFill>
              </a:rPr>
              <a:t>Still stretched at the close</a:t>
            </a:r>
            <a:endParaRPr lang="en-US" sz="1400" dirty="0"/>
          </a:p>
          <a:p>
            <a:pPr indent="0" marL="0">
              <a:buNone/>
            </a:pPr>
            <a:r>
              <a:rPr lang="en-US" sz="1400" dirty="0">
                <a:solidFill>
                  <a:schemeClr val="tx2"/>
                </a:solidFill>
              </a:rPr>
              <a:t>Close far from the day's VWAP: pressure, not news, if both legs agree</a:t>
            </a:r>
            <a:endParaRPr lang="en-US" sz="1400" dirty="0"/>
          </a:p>
        </p:txBody>
      </p:sp>
      <p:sp>
        <p:nvSpPr>
          <p:cNvPr id="11" name="step-56"/>
          <p:cNvSpPr/>
          <p:nvPr/>
        </p:nvSpPr>
        <p:spPr>
          <a:xfrm>
            <a:off x="548640" y="3611880"/>
            <a:ext cx="384048" cy="384048"/>
          </a:xfrm>
          <a:prstGeom prst="ellipse">
            <a:avLst/>
          </a:prstGeom>
          <a:solidFill>
            <a:srgbClr val="C2410C"/>
          </a:solidFill>
          <a:ln w="12700">
            <a:solidFill>
              <a:srgbClr val="C2410C"/>
            </a:solidFill>
            <a:prstDash val="solid"/>
          </a:ln>
        </p:spPr>
      </p:sp>
      <p:sp>
        <p:nvSpPr>
          <p:cNvPr id="12" name="text-57"/>
          <p:cNvSpPr txBox="1"/>
          <p:nvPr/>
        </p:nvSpPr>
        <p:spPr>
          <a:xfrm>
            <a:off x="548640" y="3611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58"/>
          <p:cNvSpPr txBox="1"/>
          <p:nvPr/>
        </p:nvSpPr>
        <p:spPr>
          <a:xfrm>
            <a:off x="1097280" y="3575304"/>
            <a:ext cx="4572000" cy="868680"/>
          </a:xfrm>
          <a:prstGeom prst="rect">
            <a:avLst/>
          </a:prstGeom>
          <a:noFill/>
          <a:ln/>
        </p:spPr>
        <p:txBody>
          <a:bodyPr wrap="square" lIns="0" tIns="0" rIns="0" bIns="0" rtlCol="0" anchor="t"/>
          <a:lstStyle/>
          <a:p>
            <a:pPr indent="0" marL="0">
              <a:buNone/>
            </a:pPr>
            <a:r>
              <a:rPr lang="en-US" sz="1400" b="1" dirty="0">
                <a:solidFill>
                  <a:schemeClr val="tx1"/>
                </a:solidFill>
              </a:rPr>
              <a:t>Take the other side for 1–5 days</a:t>
            </a:r>
            <a:endParaRPr lang="en-US" sz="1400" dirty="0"/>
          </a:p>
          <a:p>
            <a:pPr indent="0" marL="0">
              <a:buNone/>
            </a:pPr>
            <a:r>
              <a:rPr lang="en-US" sz="1400" dirty="0">
                <a:solidFill>
                  <a:schemeClr val="tx2"/>
                </a:solidFill>
              </a:rPr>
              <a:t>The liquidity provider is paid as price normalises (Nagel, 2012)</a:t>
            </a:r>
            <a:endParaRPr lang="en-US" sz="1400" dirty="0"/>
          </a:p>
        </p:txBody>
      </p:sp>
      <p:sp>
        <p:nvSpPr>
          <p:cNvPr id="14" name="card-59"/>
          <p:cNvSpPr/>
          <p:nvPr/>
        </p:nvSpPr>
        <p:spPr>
          <a:xfrm>
            <a:off x="548640" y="4617720"/>
            <a:ext cx="5120640" cy="914400"/>
          </a:xfrm>
          <a:prstGeom prst="roundRect">
            <a:avLst>
              <a:gd name="adj" fmla="val 8000"/>
            </a:avLst>
          </a:prstGeom>
          <a:solidFill>
            <a:schemeClr val="bg2"/>
          </a:solidFill>
          <a:ln w="12700">
            <a:solidFill>
              <a:schemeClr val="bg2"/>
            </a:solidFill>
            <a:prstDash val="solid"/>
          </a:ln>
        </p:spPr>
      </p:sp>
      <p:sp>
        <p:nvSpPr>
          <p:cNvPr id="15" name="text-60"/>
          <p:cNvSpPr txBox="1"/>
          <p:nvPr/>
        </p:nvSpPr>
        <p:spPr>
          <a:xfrm>
            <a:off x="731520" y="4754880"/>
            <a:ext cx="4754880" cy="64008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alpha = -cs_rank(open - ts_mean(vwap, 10))</a:t>
            </a:r>
            <a:endParaRPr lang="en-US" sz="1200" dirty="0"/>
          </a:p>
          <a:p>
            <a:pPr indent="0" marL="0">
              <a:buNone/>
            </a:pPr>
            <a:r>
              <a:rPr lang="en-US" sz="1200" dirty="0">
                <a:solidFill>
                  <a:schemeClr val="tx1"/>
                </a:solidFill>
                <a:latin typeface="Consolas" pitchFamily="34" charset="0"/>
                <a:ea typeface="Consolas" pitchFamily="34" charset="-122"/>
                <a:cs typeface="Consolas" pitchFamily="34" charset="-120"/>
              </a:rPr>
              <a:t>        × abs(cs_rank(close - vwap))</a:t>
            </a:r>
            <a:endParaRPr lang="en-US" sz="1200" dirty="0"/>
          </a:p>
        </p:txBody>
      </p:sp>
      <p:sp>
        <p:nvSpPr>
          <p:cNvPr id="16" name="text-61"/>
          <p:cNvSpPr txBox="1"/>
          <p:nvPr/>
        </p:nvSpPr>
        <p:spPr>
          <a:xfrm>
            <a:off x="548640" y="5623560"/>
            <a:ext cx="5120640" cy="457200"/>
          </a:xfrm>
          <a:prstGeom prst="rect">
            <a:avLst/>
          </a:prstGeom>
          <a:noFill/>
          <a:ln/>
        </p:spPr>
        <p:txBody>
          <a:bodyPr wrap="square" lIns="0" tIns="0" rIns="0" bIns="0" rtlCol="0" anchor="t"/>
          <a:lstStyle/>
          <a:p>
            <a:pPr indent="0" marL="0">
              <a:buNone/>
            </a:pPr>
            <a:r>
              <a:rPr lang="en-US" sz="1100" dirty="0">
                <a:solidFill>
                  <a:schemeClr val="tx2"/>
                </a:solidFill>
              </a:rPr>
              <a:t>Structure of Formulaic Alpha #5 (Kakushadze, 2016); the saved TrexSim expression is an adaptation.</a:t>
            </a:r>
            <a:endParaRPr lang="en-US" sz="1100" dirty="0"/>
          </a:p>
        </p:txBody>
      </p:sp>
      <p:graphicFrame>
        <p:nvGraphicFramePr>
          <p:cNvPr id="17" name="famA-ir-chart" descr=""/>
          <p:cNvGraphicFramePr/>
          <p:nvPr/>
        </p:nvGraphicFramePr>
        <p:xfrm>
          <a:off x="6035040" y="1143000"/>
          <a:ext cx="5577840" cy="3520440"/>
        </p:xfrm>
        <a:graphic xmlns:a="http://schemas.openxmlformats.org/drawingml/2006/main">
          <a:graphicData uri="http://schemas.openxmlformats.org/drawingml/2006/chart">
            <c:chart xmlns:c="http://schemas.openxmlformats.org/drawingml/2006/chart" r:id="rId1"/>
          </a:graphicData>
        </a:graphic>
      </p:graphicFrame>
      <p:sp>
        <p:nvSpPr>
          <p:cNvPr id="18" name="card-62"/>
          <p:cNvSpPr/>
          <p:nvPr/>
        </p:nvSpPr>
        <p:spPr>
          <a:xfrm>
            <a:off x="6035040" y="4846320"/>
            <a:ext cx="1737360" cy="1234440"/>
          </a:xfrm>
          <a:prstGeom prst="roundRect">
            <a:avLst>
              <a:gd name="adj" fmla="val 5926"/>
            </a:avLst>
          </a:prstGeom>
          <a:solidFill>
            <a:schemeClr val="bg2"/>
          </a:solidFill>
          <a:ln w="12700">
            <a:solidFill>
              <a:schemeClr val="bg2"/>
            </a:solidFill>
            <a:prstDash val="solid"/>
          </a:ln>
        </p:spPr>
      </p:sp>
      <p:sp>
        <p:nvSpPr>
          <p:cNvPr id="19" name="text-63"/>
          <p:cNvSpPr txBox="1"/>
          <p:nvPr/>
        </p:nvSpPr>
        <p:spPr>
          <a:xfrm>
            <a:off x="6172200" y="4937760"/>
            <a:ext cx="1508760" cy="502920"/>
          </a:xfrm>
          <a:prstGeom prst="rect">
            <a:avLst/>
          </a:prstGeom>
          <a:noFill/>
          <a:ln/>
        </p:spPr>
        <p:txBody>
          <a:bodyPr wrap="square" lIns="0" tIns="0" rIns="0" bIns="0" rtlCol="0" anchor="t"/>
          <a:lstStyle/>
          <a:p>
            <a:pPr indent="0" marL="0">
              <a:buNone/>
            </a:pPr>
            <a:r>
              <a:rPr lang="en-US" sz="2600" b="1" dirty="0">
                <a:solidFill>
                  <a:srgbClr val="C2410C"/>
                </a:solidFill>
              </a:rPr>
              <a:t>1 / 80</a:t>
            </a:r>
            <a:endParaRPr lang="en-US" sz="2600" dirty="0"/>
          </a:p>
        </p:txBody>
      </p:sp>
      <p:sp>
        <p:nvSpPr>
          <p:cNvPr id="20" name="text-64"/>
          <p:cNvSpPr txBox="1"/>
          <p:nvPr/>
        </p:nvSpPr>
        <p:spPr>
          <a:xfrm>
            <a:off x="6172200" y="5440680"/>
            <a:ext cx="1508760" cy="548640"/>
          </a:xfrm>
          <a:prstGeom prst="rect">
            <a:avLst/>
          </a:prstGeom>
          <a:noFill/>
          <a:ln/>
        </p:spPr>
        <p:txBody>
          <a:bodyPr wrap="square" lIns="0" tIns="0" rIns="0" bIns="0" rtlCol="0" anchor="t"/>
          <a:lstStyle/>
          <a:p>
            <a:pPr indent="0" marL="0">
              <a:buNone/>
            </a:pPr>
            <a:r>
              <a:rPr lang="en-US" sz="1100" dirty="0">
                <a:solidFill>
                  <a:schemeClr val="tx2"/>
                </a:solidFill>
              </a:rPr>
              <a:t>Return 0.145 (#1 on the account)</a:t>
            </a:r>
            <a:endParaRPr lang="en-US" sz="1100" dirty="0"/>
          </a:p>
        </p:txBody>
      </p:sp>
      <p:sp>
        <p:nvSpPr>
          <p:cNvPr id="21" name="card-65"/>
          <p:cNvSpPr/>
          <p:nvPr/>
        </p:nvSpPr>
        <p:spPr>
          <a:xfrm>
            <a:off x="7927848" y="4846320"/>
            <a:ext cx="1737360" cy="1234440"/>
          </a:xfrm>
          <a:prstGeom prst="roundRect">
            <a:avLst>
              <a:gd name="adj" fmla="val 5926"/>
            </a:avLst>
          </a:prstGeom>
          <a:solidFill>
            <a:schemeClr val="bg2"/>
          </a:solidFill>
          <a:ln w="12700">
            <a:solidFill>
              <a:schemeClr val="bg2"/>
            </a:solidFill>
            <a:prstDash val="solid"/>
          </a:ln>
        </p:spPr>
      </p:sp>
      <p:sp>
        <p:nvSpPr>
          <p:cNvPr id="22" name="text-66"/>
          <p:cNvSpPr txBox="1"/>
          <p:nvPr/>
        </p:nvSpPr>
        <p:spPr>
          <a:xfrm>
            <a:off x="8065008" y="4937760"/>
            <a:ext cx="1508760" cy="502920"/>
          </a:xfrm>
          <a:prstGeom prst="rect">
            <a:avLst/>
          </a:prstGeom>
          <a:noFill/>
          <a:ln/>
        </p:spPr>
        <p:txBody>
          <a:bodyPr wrap="square" lIns="0" tIns="0" rIns="0" bIns="0" rtlCol="0" anchor="t"/>
          <a:lstStyle/>
          <a:p>
            <a:pPr indent="0" marL="0">
              <a:buNone/>
            </a:pPr>
            <a:r>
              <a:rPr lang="en-US" sz="2600" b="1" dirty="0">
                <a:solidFill>
                  <a:srgbClr val="C2410C"/>
                </a:solidFill>
              </a:rPr>
              <a:t>15 / 80</a:t>
            </a:r>
            <a:endParaRPr lang="en-US" sz="2600" dirty="0"/>
          </a:p>
        </p:txBody>
      </p:sp>
      <p:sp>
        <p:nvSpPr>
          <p:cNvPr id="23" name="text-67"/>
          <p:cNvSpPr txBox="1"/>
          <p:nvPr/>
        </p:nvSpPr>
        <p:spPr>
          <a:xfrm>
            <a:off x="8065008" y="5440680"/>
            <a:ext cx="1508760" cy="548640"/>
          </a:xfrm>
          <a:prstGeom prst="rect">
            <a:avLst/>
          </a:prstGeom>
          <a:noFill/>
          <a:ln/>
        </p:spPr>
        <p:txBody>
          <a:bodyPr wrap="square" lIns="0" tIns="0" rIns="0" bIns="0" rtlCol="0" anchor="t"/>
          <a:lstStyle/>
          <a:p>
            <a:pPr indent="0" marL="0">
              <a:buNone/>
            </a:pPr>
            <a:r>
              <a:rPr lang="en-US" sz="1100" dirty="0">
                <a:solidFill>
                  <a:schemeClr val="tx2"/>
                </a:solidFill>
              </a:rPr>
              <a:t>IR 0.120 (pool med. 0.102)</a:t>
            </a:r>
            <a:endParaRPr lang="en-US" sz="1100" dirty="0"/>
          </a:p>
        </p:txBody>
      </p:sp>
      <p:sp>
        <p:nvSpPr>
          <p:cNvPr id="24" name="card-68"/>
          <p:cNvSpPr/>
          <p:nvPr/>
        </p:nvSpPr>
        <p:spPr>
          <a:xfrm>
            <a:off x="9820656" y="4846320"/>
            <a:ext cx="1737360" cy="1234440"/>
          </a:xfrm>
          <a:prstGeom prst="roundRect">
            <a:avLst>
              <a:gd name="adj" fmla="val 5926"/>
            </a:avLst>
          </a:prstGeom>
          <a:solidFill>
            <a:schemeClr val="bg2"/>
          </a:solidFill>
          <a:ln w="12700">
            <a:solidFill>
              <a:schemeClr val="bg2"/>
            </a:solidFill>
            <a:prstDash val="solid"/>
          </a:ln>
        </p:spPr>
      </p:sp>
      <p:sp>
        <p:nvSpPr>
          <p:cNvPr id="25" name="text-69"/>
          <p:cNvSpPr txBox="1"/>
          <p:nvPr/>
        </p:nvSpPr>
        <p:spPr>
          <a:xfrm>
            <a:off x="9957816" y="4937760"/>
            <a:ext cx="1508760" cy="502920"/>
          </a:xfrm>
          <a:prstGeom prst="rect">
            <a:avLst/>
          </a:prstGeom>
          <a:noFill/>
          <a:ln/>
        </p:spPr>
        <p:txBody>
          <a:bodyPr wrap="square" lIns="0" tIns="0" rIns="0" bIns="0" rtlCol="0" anchor="t"/>
          <a:lstStyle/>
          <a:p>
            <a:pPr indent="0" marL="0">
              <a:buNone/>
            </a:pPr>
            <a:r>
              <a:rPr lang="en-US" sz="2600" b="1" dirty="0">
                <a:solidFill>
                  <a:srgbClr val="C2410C"/>
                </a:solidFill>
              </a:rPr>
              <a:t>9 / 80</a:t>
            </a:r>
            <a:endParaRPr lang="en-US" sz="2600" dirty="0"/>
          </a:p>
        </p:txBody>
      </p:sp>
      <p:sp>
        <p:nvSpPr>
          <p:cNvPr id="26" name="text-70"/>
          <p:cNvSpPr txBox="1"/>
          <p:nvPr/>
        </p:nvSpPr>
        <p:spPr>
          <a:xfrm>
            <a:off x="9957816" y="5440680"/>
            <a:ext cx="1508760" cy="548640"/>
          </a:xfrm>
          <a:prstGeom prst="rect">
            <a:avLst/>
          </a:prstGeom>
          <a:noFill/>
          <a:ln/>
        </p:spPr>
        <p:txBody>
          <a:bodyPr wrap="square" lIns="0" tIns="0" rIns="0" bIns="0" rtlCol="0" anchor="t"/>
          <a:lstStyle/>
          <a:p>
            <a:pPr indent="0" marL="0">
              <a:buNone/>
            </a:pPr>
            <a:r>
              <a:rPr lang="en-US" sz="1100" dirty="0">
                <a:solidFill>
                  <a:schemeClr val="tx2"/>
                </a:solidFill>
              </a:rPr>
              <a:t>Ret/DD 0.011 (med. 0.006)</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560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t"/>
          <a:lstStyle/>
          <a:p>
            <a:pPr algn="l" indent="0" marL="0">
              <a:buNone/>
            </a:pPr>
            <a:r>
              <a:rPr lang="en-US" sz="3000" b="1" dirty="0">
                <a:solidFill>
                  <a:schemeClr val="tx1"/>
                </a:solidFill>
              </a:rPr>
              <a:t>Composite: two weak, unrelated views of the close</a:t>
            </a:r>
            <a:endParaRPr lang="en-US" sz="3000" dirty="0"/>
          </a:p>
        </p:txBody>
      </p:sp>
      <p:sp>
        <p:nvSpPr>
          <p:cNvPr id="3" name="tag-71"/>
          <p:cNvSpPr/>
          <p:nvPr/>
        </p:nvSpPr>
        <p:spPr>
          <a:xfrm>
            <a:off x="548640" y="1188720"/>
            <a:ext cx="2194560" cy="310896"/>
          </a:xfrm>
          <a:prstGeom prst="roundRect">
            <a:avLst>
              <a:gd name="adj" fmla="val 11765"/>
            </a:avLst>
          </a:prstGeom>
          <a:solidFill>
            <a:srgbClr val="0E7C6B"/>
          </a:solidFill>
          <a:ln w="12700">
            <a:solidFill>
              <a:srgbClr val="0E7C6B"/>
            </a:solidFill>
            <a:prstDash val="solid"/>
          </a:ln>
        </p:spPr>
      </p:sp>
      <p:sp>
        <p:nvSpPr>
          <p:cNvPr id="4" name="text-72"/>
          <p:cNvSpPr txBox="1"/>
          <p:nvPr/>
        </p:nvSpPr>
        <p:spPr>
          <a:xfrm>
            <a:off x="548640" y="1188720"/>
            <a:ext cx="2194560" cy="310896"/>
          </a:xfrm>
          <a:prstGeom prst="rect">
            <a:avLst/>
          </a:prstGeom>
          <a:noFill/>
          <a:ln/>
        </p:spPr>
        <p:txBody>
          <a:bodyPr wrap="square" lIns="0" tIns="0" rIns="0" bIns="0" rtlCol="0" anchor="ctr"/>
          <a:lstStyle/>
          <a:p>
            <a:pPr algn="ctr" indent="0" marL="0">
              <a:buNone/>
            </a:pPr>
            <a:r>
              <a:rPr lang="en-US" sz="1200" b="1" dirty="0">
                <a:solidFill>
                  <a:schemeClr val="bg1"/>
                </a:solidFill>
              </a:rPr>
              <a:t>336690 · Composite</a:t>
            </a:r>
            <a:endParaRPr lang="en-US" sz="1200" dirty="0"/>
          </a:p>
        </p:txBody>
      </p:sp>
      <p:sp>
        <p:nvSpPr>
          <p:cNvPr id="5" name="card-73"/>
          <p:cNvSpPr/>
          <p:nvPr/>
        </p:nvSpPr>
        <p:spPr>
          <a:xfrm>
            <a:off x="548640" y="1737360"/>
            <a:ext cx="5394960" cy="3246120"/>
          </a:xfrm>
          <a:prstGeom prst="roundRect">
            <a:avLst>
              <a:gd name="adj" fmla="val 2254"/>
            </a:avLst>
          </a:prstGeom>
          <a:solidFill>
            <a:schemeClr val="bg2"/>
          </a:solidFill>
          <a:ln w="12700">
            <a:solidFill>
              <a:schemeClr val="bg2"/>
            </a:solidFill>
            <a:prstDash val="solid"/>
          </a:ln>
        </p:spPr>
      </p:sp>
      <p:sp>
        <p:nvSpPr>
          <p:cNvPr id="6" name="text-74"/>
          <p:cNvSpPr txBox="1"/>
          <p:nvPr/>
        </p:nvSpPr>
        <p:spPr>
          <a:xfrm>
            <a:off x="822960" y="1874520"/>
            <a:ext cx="4846320" cy="365760"/>
          </a:xfrm>
          <a:prstGeom prst="rect">
            <a:avLst/>
          </a:prstGeom>
          <a:noFill/>
          <a:ln/>
        </p:spPr>
        <p:txBody>
          <a:bodyPr wrap="square" lIns="0" tIns="0" rIns="0" bIns="0" rtlCol="0" anchor="t"/>
          <a:lstStyle/>
          <a:p>
            <a:pPr indent="0" marL="0">
              <a:buNone/>
            </a:pPr>
            <a:r>
              <a:rPr lang="en-US" sz="2000" b="1" dirty="0">
                <a:solidFill>
                  <a:schemeClr val="tx1"/>
                </a:solidFill>
              </a:rPr>
              <a:t>Leg 1 · Who traded</a:t>
            </a:r>
            <a:endParaRPr lang="en-US" sz="2000" dirty="0"/>
          </a:p>
        </p:txBody>
      </p:sp>
      <p:sp>
        <p:nvSpPr>
          <p:cNvPr id="7" name="text-75"/>
          <p:cNvSpPr txBox="1"/>
          <p:nvPr/>
        </p:nvSpPr>
        <p:spPr>
          <a:xfrm>
            <a:off x="822960" y="2240280"/>
            <a:ext cx="4846320" cy="274320"/>
          </a:xfrm>
          <a:prstGeom prst="rect">
            <a:avLst/>
          </a:prstGeom>
          <a:noFill/>
          <a:ln/>
        </p:spPr>
        <p:txBody>
          <a:bodyPr wrap="square" lIns="0" tIns="0" rIns="0" bIns="0" rtlCol="0" anchor="t"/>
          <a:lstStyle/>
          <a:p>
            <a:pPr indent="0" marL="0">
              <a:buNone/>
            </a:pPr>
            <a:r>
              <a:rPr lang="en-US" sz="1200" dirty="0">
                <a:solidFill>
                  <a:schemeClr val="tx2"/>
                </a:solidFill>
              </a:rPr>
              <a:t>vol-conc  (alone: 323084)</a:t>
            </a:r>
            <a:endParaRPr lang="en-US" sz="1200" dirty="0"/>
          </a:p>
        </p:txBody>
      </p:sp>
      <p:sp>
        <p:nvSpPr>
          <p:cNvPr id="8" name="text-76"/>
          <p:cNvSpPr txBox="1"/>
          <p:nvPr/>
        </p:nvSpPr>
        <p:spPr>
          <a:xfrm>
            <a:off x="822960" y="2606040"/>
            <a:ext cx="4846320" cy="32004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cs_zscore(volume_last_hour / volume)</a:t>
            </a:r>
            <a:endParaRPr lang="en-US" sz="1200" dirty="0"/>
          </a:p>
        </p:txBody>
      </p:sp>
      <p:sp>
        <p:nvSpPr>
          <p:cNvPr id="9" name="text-77"/>
          <p:cNvSpPr txBox="1"/>
          <p:nvPr/>
        </p:nvSpPr>
        <p:spPr>
          <a:xfrm>
            <a:off x="822960" y="3017520"/>
            <a:ext cx="4846320" cy="1097280"/>
          </a:xfrm>
          <a:prstGeom prst="rect">
            <a:avLst/>
          </a:prstGeom>
          <a:noFill/>
          <a:ln/>
        </p:spPr>
        <p:txBody>
          <a:bodyPr wrap="square" lIns="0" tIns="0" rIns="0" bIns="0" rtlCol="0" anchor="t"/>
          <a:lstStyle/>
          <a:p>
            <a:pPr indent="0" marL="0">
              <a:buNone/>
            </a:pPr>
            <a:r>
              <a:rPr lang="en-US" sz="1400" dirty="0">
                <a:solidFill>
                  <a:schemeClr val="tx2"/>
                </a:solidFill>
              </a:rPr>
              <a:t>Benchmark-driven and institutional orders cluster at the close and are worked over several days, so their pressure persists.</a:t>
            </a:r>
            <a:endParaRPr lang="en-US" sz="1400" dirty="0"/>
          </a:p>
        </p:txBody>
      </p:sp>
      <p:sp>
        <p:nvSpPr>
          <p:cNvPr id="10" name="text-78"/>
          <p:cNvSpPr txBox="1"/>
          <p:nvPr/>
        </p:nvSpPr>
        <p:spPr>
          <a:xfrm>
            <a:off x="822960" y="4434840"/>
            <a:ext cx="4846320" cy="365760"/>
          </a:xfrm>
          <a:prstGeom prst="rect">
            <a:avLst/>
          </a:prstGeom>
          <a:noFill/>
          <a:ln/>
        </p:spPr>
        <p:txBody>
          <a:bodyPr wrap="square" lIns="0" tIns="0" rIns="0" bIns="0" rtlCol="0" anchor="t"/>
          <a:lstStyle/>
          <a:p>
            <a:pPr indent="0" marL="0">
              <a:buNone/>
            </a:pPr>
            <a:r>
              <a:rPr lang="en-US" sz="1400" b="1" dirty="0">
                <a:solidFill>
                  <a:srgbClr val="0E7C6B"/>
                </a:solidFill>
              </a:rPr>
              <a:t>Persists  (+)</a:t>
            </a:r>
            <a:pPr indent="0" marL="0">
              <a:buNone/>
            </a:pPr>
            <a:r>
              <a:rPr lang="en-US" sz="1400" dirty="0">
                <a:solidFill>
                  <a:schemeClr val="tx1"/>
                </a:solidFill>
              </a:rPr>
              <a:t>     IR 0.075 · rank 75 / 80</a:t>
            </a:r>
            <a:endParaRPr lang="en-US" sz="1400" dirty="0"/>
          </a:p>
        </p:txBody>
      </p:sp>
      <p:sp>
        <p:nvSpPr>
          <p:cNvPr id="11" name="card-79"/>
          <p:cNvSpPr/>
          <p:nvPr/>
        </p:nvSpPr>
        <p:spPr>
          <a:xfrm>
            <a:off x="6172200" y="1737360"/>
            <a:ext cx="5394960" cy="3246120"/>
          </a:xfrm>
          <a:prstGeom prst="roundRect">
            <a:avLst>
              <a:gd name="adj" fmla="val 2254"/>
            </a:avLst>
          </a:prstGeom>
          <a:solidFill>
            <a:schemeClr val="bg2"/>
          </a:solidFill>
          <a:ln w="12700">
            <a:solidFill>
              <a:schemeClr val="bg2"/>
            </a:solidFill>
            <a:prstDash val="solid"/>
          </a:ln>
        </p:spPr>
      </p:sp>
      <p:sp>
        <p:nvSpPr>
          <p:cNvPr id="12" name="text-80"/>
          <p:cNvSpPr txBox="1"/>
          <p:nvPr/>
        </p:nvSpPr>
        <p:spPr>
          <a:xfrm>
            <a:off x="6446520" y="1874520"/>
            <a:ext cx="4846320" cy="365760"/>
          </a:xfrm>
          <a:prstGeom prst="rect">
            <a:avLst/>
          </a:prstGeom>
          <a:noFill/>
          <a:ln/>
        </p:spPr>
        <p:txBody>
          <a:bodyPr wrap="square" lIns="0" tIns="0" rIns="0" bIns="0" rtlCol="0" anchor="t"/>
          <a:lstStyle/>
          <a:p>
            <a:pPr indent="0" marL="0">
              <a:buNone/>
            </a:pPr>
            <a:r>
              <a:rPr lang="en-US" sz="2000" b="1" dirty="0">
                <a:solidFill>
                  <a:schemeClr val="tx1"/>
                </a:solidFill>
              </a:rPr>
              <a:t>Leg 2 · Where it closed</a:t>
            </a:r>
            <a:endParaRPr lang="en-US" sz="2000" dirty="0"/>
          </a:p>
        </p:txBody>
      </p:sp>
      <p:sp>
        <p:nvSpPr>
          <p:cNvPr id="13" name="text-81"/>
          <p:cNvSpPr txBox="1"/>
          <p:nvPr/>
        </p:nvSpPr>
        <p:spPr>
          <a:xfrm>
            <a:off x="6446520" y="2240280"/>
            <a:ext cx="4846320" cy="274320"/>
          </a:xfrm>
          <a:prstGeom prst="rect">
            <a:avLst/>
          </a:prstGeom>
          <a:noFill/>
          <a:ln/>
        </p:spPr>
        <p:txBody>
          <a:bodyPr wrap="square" lIns="0" tIns="0" rIns="0" bIns="0" rtlCol="0" anchor="t"/>
          <a:lstStyle/>
          <a:p>
            <a:pPr indent="0" marL="0">
              <a:buNone/>
            </a:pPr>
            <a:r>
              <a:rPr lang="en-US" sz="1200" dirty="0">
                <a:solidFill>
                  <a:schemeClr val="tx2"/>
                </a:solidFill>
              </a:rPr>
              <a:t>day-range  (alone: 316611)</a:t>
            </a:r>
            <a:endParaRPr lang="en-US" sz="1200" dirty="0"/>
          </a:p>
        </p:txBody>
      </p:sp>
      <p:sp>
        <p:nvSpPr>
          <p:cNvPr id="14" name="text-82"/>
          <p:cNvSpPr txBox="1"/>
          <p:nvPr/>
        </p:nvSpPr>
        <p:spPr>
          <a:xfrm>
            <a:off x="6446520" y="2606040"/>
            <a:ext cx="4846320" cy="320040"/>
          </a:xfrm>
          <a:prstGeom prst="rect">
            <a:avLst/>
          </a:prstGeom>
          <a:noFill/>
          <a:ln/>
        </p:spPr>
        <p:txBody>
          <a:bodyPr wrap="square" lIns="0" tIns="0" rIns="0" bIns="0" rtlCol="0" anchor="t"/>
          <a:lstStyle/>
          <a:p>
            <a:pPr indent="0" marL="0">
              <a:buNone/>
            </a:pPr>
            <a:r>
              <a:rPr lang="en-US" sz="1200" dirty="0">
                <a:solidFill>
                  <a:schemeClr val="tx1"/>
                </a:solidFill>
                <a:latin typeface="Consolas" pitchFamily="34" charset="0"/>
                <a:ea typeface="Consolas" pitchFamily="34" charset="-122"/>
                <a:cs typeface="Consolas" pitchFamily="34" charset="-120"/>
              </a:rPr>
              <a:t>-cs_zscore((close - low) / (high - low))</a:t>
            </a:r>
            <a:endParaRPr lang="en-US" sz="1200" dirty="0"/>
          </a:p>
        </p:txBody>
      </p:sp>
      <p:sp>
        <p:nvSpPr>
          <p:cNvPr id="15" name="text-83"/>
          <p:cNvSpPr txBox="1"/>
          <p:nvPr/>
        </p:nvSpPr>
        <p:spPr>
          <a:xfrm>
            <a:off x="6446520" y="3017520"/>
            <a:ext cx="4846320" cy="1097280"/>
          </a:xfrm>
          <a:prstGeom prst="rect">
            <a:avLst/>
          </a:prstGeom>
          <a:noFill/>
          <a:ln/>
        </p:spPr>
        <p:txBody>
          <a:bodyPr wrap="square" lIns="0" tIns="0" rIns="0" bIns="0" rtlCol="0" anchor="t"/>
          <a:lstStyle/>
          <a:p>
            <a:pPr indent="0" marL="0">
              <a:buNone/>
            </a:pPr>
            <a:r>
              <a:rPr lang="en-US" sz="1400" dirty="0">
                <a:solidFill>
                  <a:schemeClr val="tx2"/>
                </a:solidFill>
              </a:rPr>
              <a:t>A close pinned at the high means buyers were still pushing at the bell. Supplying that liquidity pays as it fades.</a:t>
            </a:r>
            <a:endParaRPr lang="en-US" sz="1400" dirty="0"/>
          </a:p>
        </p:txBody>
      </p:sp>
      <p:sp>
        <p:nvSpPr>
          <p:cNvPr id="16" name="text-84"/>
          <p:cNvSpPr txBox="1"/>
          <p:nvPr/>
        </p:nvSpPr>
        <p:spPr>
          <a:xfrm>
            <a:off x="6446520" y="4434840"/>
            <a:ext cx="4846320" cy="365760"/>
          </a:xfrm>
          <a:prstGeom prst="rect">
            <a:avLst/>
          </a:prstGeom>
          <a:noFill/>
          <a:ln/>
        </p:spPr>
        <p:txBody>
          <a:bodyPr wrap="square" lIns="0" tIns="0" rIns="0" bIns="0" rtlCol="0" anchor="t"/>
          <a:lstStyle/>
          <a:p>
            <a:pPr indent="0" marL="0">
              <a:buNone/>
            </a:pPr>
            <a:r>
              <a:rPr lang="en-US" sz="1400" b="1" dirty="0">
                <a:solidFill>
                  <a:srgbClr val="0E7C6B"/>
                </a:solidFill>
              </a:rPr>
              <a:t>Reverts  (−)</a:t>
            </a:r>
            <a:pPr indent="0" marL="0">
              <a:buNone/>
            </a:pPr>
            <a:r>
              <a:rPr lang="en-US" sz="1400" dirty="0">
                <a:solidFill>
                  <a:schemeClr val="tx1"/>
                </a:solidFill>
              </a:rPr>
              <a:t>     IR 0.093 · rank 52 / 80</a:t>
            </a:r>
            <a:endParaRPr lang="en-US" sz="1400" dirty="0"/>
          </a:p>
        </p:txBody>
      </p:sp>
      <p:sp>
        <p:nvSpPr>
          <p:cNvPr id="17" name="card-85"/>
          <p:cNvSpPr/>
          <p:nvPr/>
        </p:nvSpPr>
        <p:spPr>
          <a:xfrm>
            <a:off x="548640" y="5212080"/>
            <a:ext cx="11018520" cy="502920"/>
          </a:xfrm>
          <a:prstGeom prst="roundRect">
            <a:avLst>
              <a:gd name="adj" fmla="val 14545"/>
            </a:avLst>
          </a:prstGeom>
          <a:solidFill>
            <a:schemeClr val="bg2"/>
          </a:solidFill>
          <a:ln w="12700">
            <a:solidFill>
              <a:schemeClr val="bg2"/>
            </a:solidFill>
            <a:prstDash val="solid"/>
          </a:ln>
        </p:spPr>
      </p:sp>
      <p:sp>
        <p:nvSpPr>
          <p:cNvPr id="18" name="text-86"/>
          <p:cNvSpPr txBox="1"/>
          <p:nvPr/>
        </p:nvSpPr>
        <p:spPr>
          <a:xfrm>
            <a:off x="731520" y="5349240"/>
            <a:ext cx="10652760" cy="228600"/>
          </a:xfrm>
          <a:prstGeom prst="rect">
            <a:avLst/>
          </a:prstGeom>
          <a:noFill/>
          <a:ln/>
        </p:spPr>
        <p:txBody>
          <a:bodyPr wrap="square" lIns="0" tIns="0" rIns="0" bIns="0" rtlCol="0" anchor="ctr"/>
          <a:lstStyle/>
          <a:p>
            <a:pPr indent="0" marL="0">
              <a:buNone/>
            </a:pPr>
            <a:r>
              <a:rPr lang="en-US" sz="1200" dirty="0">
                <a:solidFill>
                  <a:schemeClr val="tx1"/>
                </a:solidFill>
                <a:latin typeface="Consolas" pitchFamily="34" charset="0"/>
                <a:ea typeface="Consolas" pitchFamily="34" charset="-122"/>
                <a:cs typeface="Consolas" pitchFamily="34" charset="-120"/>
              </a:rPr>
              <a:t>alpha 336690 = cs_zscore( vol_conc + day_range_reversal )      equal weights, no fitting</a:t>
            </a:r>
            <a:endParaRPr lang="en-US" sz="1200" dirty="0"/>
          </a:p>
        </p:txBody>
      </p:sp>
      <p:sp>
        <p:nvSpPr>
          <p:cNvPr id="19" name="text-87"/>
          <p:cNvSpPr txBox="1"/>
          <p:nvPr/>
        </p:nvSpPr>
        <p:spPr>
          <a:xfrm>
            <a:off x="548640" y="5852160"/>
            <a:ext cx="11018520" cy="457200"/>
          </a:xfrm>
          <a:prstGeom prst="rect">
            <a:avLst/>
          </a:prstGeom>
          <a:noFill/>
          <a:ln/>
        </p:spPr>
        <p:txBody>
          <a:bodyPr wrap="square" lIns="0" tIns="0" rIns="0" bIns="0" rtlCol="0" anchor="t"/>
          <a:lstStyle/>
          <a:p>
            <a:pPr indent="0" marL="0">
              <a:buNone/>
            </a:pPr>
            <a:r>
              <a:rPr lang="en-US" sz="1400" dirty="0">
                <a:solidFill>
                  <a:schemeClr val="tx1"/>
                </a:solidFill>
              </a:rPr>
              <a:t>Why they are orthogonal: different input (volume share vs price location), different behaviour (persists vs reverts), different question (who vs where).</a:t>
            </a:r>
            <a:endParaRPr lang="en-US" sz="14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560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t"/>
          <a:lstStyle/>
          <a:p>
            <a:pPr algn="l" indent="0" marL="0">
              <a:buNone/>
            </a:pPr>
            <a:r>
              <a:rPr lang="en-US" sz="3000" b="1" dirty="0">
                <a:solidFill>
                  <a:schemeClr val="tx1"/>
                </a:solidFill>
              </a:rPr>
              <a:t>The numbers say the legs are independent</a:t>
            </a:r>
            <a:endParaRPr lang="en-US" sz="3000" dirty="0"/>
          </a:p>
        </p:txBody>
      </p:sp>
      <p:graphicFrame>
        <p:nvGraphicFramePr>
          <p:cNvPr id="3" name="quadrature-chart" descr=""/>
          <p:cNvGraphicFramePr/>
          <p:nvPr/>
        </p:nvGraphicFramePr>
        <p:xfrm>
          <a:off x="548640" y="118872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4" name="card-88"/>
          <p:cNvSpPr/>
          <p:nvPr/>
        </p:nvSpPr>
        <p:spPr>
          <a:xfrm>
            <a:off x="7269480" y="1188720"/>
            <a:ext cx="4343400" cy="2240280"/>
          </a:xfrm>
          <a:prstGeom prst="roundRect">
            <a:avLst>
              <a:gd name="adj" fmla="val 3265"/>
            </a:avLst>
          </a:prstGeom>
          <a:solidFill>
            <a:schemeClr val="bg2"/>
          </a:solidFill>
          <a:ln w="12700">
            <a:solidFill>
              <a:schemeClr val="bg2"/>
            </a:solidFill>
            <a:prstDash val="solid"/>
          </a:ln>
        </p:spPr>
      </p:sp>
      <p:sp>
        <p:nvSpPr>
          <p:cNvPr id="5" name="text-89"/>
          <p:cNvSpPr txBox="1"/>
          <p:nvPr/>
        </p:nvSpPr>
        <p:spPr>
          <a:xfrm>
            <a:off x="7498080" y="1325880"/>
            <a:ext cx="3931920" cy="320040"/>
          </a:xfrm>
          <a:prstGeom prst="rect">
            <a:avLst/>
          </a:prstGeom>
          <a:noFill/>
          <a:ln/>
        </p:spPr>
        <p:txBody>
          <a:bodyPr wrap="square" lIns="0" tIns="0" rIns="0" bIns="0" rtlCol="0" anchor="t"/>
          <a:lstStyle/>
          <a:p>
            <a:pPr indent="0" marL="0">
              <a:buNone/>
            </a:pPr>
            <a:r>
              <a:rPr lang="en-US" sz="1400" b="1" dirty="0">
                <a:solidFill>
                  <a:schemeClr val="tx1"/>
                </a:solidFill>
              </a:rPr>
              <a:t>Equal-weight sum of two z-scored legs</a:t>
            </a:r>
            <a:endParaRPr lang="en-US" sz="1400" dirty="0"/>
          </a:p>
        </p:txBody>
      </p:sp>
      <p:sp>
        <p:nvSpPr>
          <p:cNvPr id="6" name="text-90"/>
          <p:cNvSpPr txBox="1"/>
          <p:nvPr/>
        </p:nvSpPr>
        <p:spPr>
          <a:xfrm>
            <a:off x="7498080" y="1737360"/>
            <a:ext cx="3931920" cy="411480"/>
          </a:xfrm>
          <a:prstGeom prst="rect">
            <a:avLst/>
          </a:prstGeom>
          <a:noFill/>
          <a:ln/>
        </p:spPr>
        <p:txBody>
          <a:bodyPr wrap="square" lIns="0" tIns="0" rIns="0" bIns="0" rtlCol="0" anchor="t"/>
          <a:lstStyle/>
          <a:p>
            <a:pPr indent="0" marL="0">
              <a:buNone/>
            </a:pPr>
            <a:r>
              <a:rPr lang="en-US" sz="1500" dirty="0">
                <a:solidFill>
                  <a:schemeClr val="tx1"/>
                </a:solidFill>
                <a:latin typeface="Consolas" pitchFamily="34" charset="0"/>
                <a:ea typeface="Consolas" pitchFamily="34" charset="-122"/>
                <a:cs typeface="Consolas" pitchFamily="34" charset="-120"/>
              </a:rPr>
              <a:t>IR = (IR₁ + IR₂) ÷ √(2 + 2ρ)</a:t>
            </a:r>
            <a:endParaRPr lang="en-US" sz="1500" dirty="0"/>
          </a:p>
        </p:txBody>
      </p:sp>
      <p:sp>
        <p:nvSpPr>
          <p:cNvPr id="7" name="text-91"/>
          <p:cNvSpPr txBox="1"/>
          <p:nvPr/>
        </p:nvSpPr>
        <p:spPr>
          <a:xfrm>
            <a:off x="7498080" y="2240280"/>
            <a:ext cx="3931920" cy="320040"/>
          </a:xfrm>
          <a:prstGeom prst="rect">
            <a:avLst/>
          </a:prstGeom>
          <a:noFill/>
          <a:ln/>
        </p:spPr>
        <p:txBody>
          <a:bodyPr wrap="square" lIns="0" tIns="0" rIns="0" bIns="0" rtlCol="0" anchor="t"/>
          <a:lstStyle/>
          <a:p>
            <a:pPr indent="0" marL="0">
              <a:buNone/>
            </a:pPr>
            <a:r>
              <a:rPr lang="en-US" sz="1400" dirty="0">
                <a:solidFill>
                  <a:schemeClr val="tx2"/>
                </a:solidFill>
              </a:rPr>
              <a:t>Solve for ρ with IR = 0.119:</a:t>
            </a:r>
            <a:endParaRPr lang="en-US" sz="1400" dirty="0"/>
          </a:p>
        </p:txBody>
      </p:sp>
      <p:sp>
        <p:nvSpPr>
          <p:cNvPr id="8" name="text-92"/>
          <p:cNvSpPr txBox="1"/>
          <p:nvPr/>
        </p:nvSpPr>
        <p:spPr>
          <a:xfrm>
            <a:off x="7498080" y="2606040"/>
            <a:ext cx="3931920" cy="640080"/>
          </a:xfrm>
          <a:prstGeom prst="rect">
            <a:avLst/>
          </a:prstGeom>
          <a:noFill/>
          <a:ln/>
        </p:spPr>
        <p:txBody>
          <a:bodyPr wrap="square" lIns="0" tIns="0" rIns="0" bIns="0" rtlCol="0" anchor="t"/>
          <a:lstStyle/>
          <a:p>
            <a:pPr indent="0" marL="0">
              <a:buNone/>
            </a:pPr>
            <a:r>
              <a:rPr lang="en-US" sz="3600" b="1" dirty="0">
                <a:solidFill>
                  <a:srgbClr val="0E7C6B"/>
                </a:solidFill>
              </a:rPr>
              <a:t>ρ ≈ 0.00</a:t>
            </a:r>
            <a:endParaRPr lang="en-US" sz="3600" dirty="0"/>
          </a:p>
        </p:txBody>
      </p:sp>
      <p:sp>
        <p:nvSpPr>
          <p:cNvPr id="9" name="text-93"/>
          <p:cNvSpPr txBox="1"/>
          <p:nvPr/>
        </p:nvSpPr>
        <p:spPr>
          <a:xfrm>
            <a:off x="7269480" y="3657600"/>
            <a:ext cx="4343400" cy="21031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+59% IR over the weaker leg, +28% over the stronger</a:t>
            </a:r>
            <a:endParaRPr lang="en-US" sz="1400" dirty="0"/>
          </a:p>
          <a:p>
            <a:pPr indent="0" marL="0">
              <a:spcAft>
                <a:spcPts val="600"/>
              </a:spcAft>
              <a:buNone/>
            </a:pPr>
            <a:r>
              <a:rPr lang="en-US" sz="1400" dirty="0">
                <a:solidFill>
                  <a:schemeClr val="tx2"/>
                </a:solidFill>
              </a:rPr>
              <a:t>IR rank 16 / 80 and return rank 7 / 80, from two legs ranked 75 and 52.</a:t>
            </a:r>
            <a:endParaRPr lang="en-US" sz="1400" dirty="0"/>
          </a:p>
          <a:p>
            <a:pPr indent="0" marL="0">
              <a:spcAft>
                <a:spcPts val="600"/>
              </a:spcAft>
              <a:buNone/>
            </a:pPr>
            <a:r>
              <a:rPr lang="en-US" sz="1400" dirty="0">
                <a:solidFill>
                  <a:schemeClr val="tx2"/>
                </a:solidFill>
              </a:rPr>
              <a:t>The cost: turnover 1.37 (rank 74 / 80) leaves its score at 0.102, below the 0.118 pool median.</a:t>
            </a:r>
            <a:endParaRPr lang="en-US" sz="1400" dirty="0"/>
          </a:p>
        </p:txBody>
      </p:sp>
      <p:sp>
        <p:nvSpPr>
          <p:cNvPr id="10" name="text-94"/>
          <p:cNvSpPr txBox="1"/>
          <p:nvPr/>
        </p:nvSpPr>
        <p:spPr>
          <a:xfrm>
            <a:off x="548640" y="5715000"/>
            <a:ext cx="6400800" cy="457200"/>
          </a:xfrm>
          <a:prstGeom prst="rect">
            <a:avLst/>
          </a:prstGeom>
          <a:noFill/>
          <a:ln/>
        </p:spPr>
        <p:txBody>
          <a:bodyPr wrap="square" lIns="0" tIns="0" rIns="0" bIns="0" rtlCol="0" anchor="t"/>
          <a:lstStyle/>
          <a:p>
            <a:pPr indent="0" marL="0">
              <a:buNone/>
            </a:pPr>
            <a:r>
              <a:rPr lang="en-US" sz="1100" dirty="0">
                <a:solidFill>
                  <a:schemeClr val="tx2"/>
                </a:solidFill>
              </a:rPr>
              <a:t>Assumes both legs have equal volatility after z-scoring. Leg IRs are from their own submitted runs (323084, 316611).</a:t>
            </a:r>
            <a:endParaRPr lang="en-US" sz="11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560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t"/>
          <a:lstStyle/>
          <a:p>
            <a:pPr algn="l" indent="0" marL="0">
              <a:buNone/>
            </a:pPr>
            <a:r>
              <a:rPr lang="en-US" sz="3000" b="1" dirty="0">
                <a:solidFill>
                  <a:schemeClr val="tx1"/>
                </a:solidFill>
              </a:rPr>
              <a:t>Scorecard against the 80-alpha pool</a:t>
            </a:r>
            <a:endParaRPr lang="en-US" sz="3000" dirty="0"/>
          </a:p>
        </p:txBody>
      </p:sp>
      <p:graphicFrame>
        <p:nvGraphicFramePr>
          <p:cNvPr id="8" name="scorecard"/>
          <p:cNvGraphicFramePr>
            <a:graphicFrameLocks noGrp="1"/>
          </p:cNvGraphicFramePr>
          <p:nvPr>
            <p:extLst>
              <p:ext uri="{D42A27DB-BD31-4B8C-83A1-F6EECF244321}">
                <p14:modId xmlns:p14="http://schemas.microsoft.com/office/powerpoint/2010/main" val="1579011935"/>
              </p:ext>
            </p:extLst>
          </p:nvPr>
        </p:nvGraphicFramePr>
        <p:xfrm>
          <a:off x="548640" y="1234440"/>
          <a:ext cx="11091672" cy="914400"/>
        </p:xfrm>
        <a:graphic>
          <a:graphicData uri="http://schemas.openxmlformats.org/drawingml/2006/table">
            <a:tbl>
              <a:tblPr/>
              <a:tblGrid>
                <a:gridCol w="2514600"/>
                <a:gridCol w="1325880"/>
                <a:gridCol w="1600200"/>
                <a:gridCol w="1883664"/>
                <a:gridCol w="1883664"/>
                <a:gridCol w="1883664"/>
              </a:tblGrid>
              <a:tr h="475488">
                <a:tc>
                  <a:txBody>
                    <a:bodyPr/>
                    <a:lstStyle/>
                    <a:p>
                      <a:pPr indent="0" marL="0">
                        <a:buNone/>
                      </a:pPr>
                      <a:r>
                        <a:rPr lang="en-US" sz="1200" b="1" dirty="0">
                          <a:solidFill>
                            <a:srgbClr val="556070"/>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556070"/>
                          </a:solidFill>
                          <a:latin typeface="Calibri" pitchFamily="34" charset="0"/>
                          <a:ea typeface="Calibri" pitchFamily="34" charset="-122"/>
                          <a:cs typeface="Calibri" pitchFamily="34" charset="-120"/>
                        </a:rPr>
                        <a:t>Pool median</a:t>
                      </a:r>
                      <a:endParaRPr lang="en-US" sz="12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556070"/>
                          </a:solidFill>
                          <a:latin typeface="Calibri" pitchFamily="34" charset="0"/>
                          <a:ea typeface="Calibri" pitchFamily="34" charset="-122"/>
                          <a:cs typeface="Calibri" pitchFamily="34" charset="-120"/>
                        </a:rPr>
                        <a:t>Pool top quartile</a:t>
                      </a:r>
                      <a:endParaRPr lang="en-US" sz="12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1F4FD8"/>
                          </a:solidFill>
                          <a:latin typeface="Calibri" pitchFamily="34" charset="0"/>
                          <a:ea typeface="Calibri" pitchFamily="34" charset="-122"/>
                          <a:cs typeface="Calibri" pitchFamily="34" charset="-120"/>
                        </a:rPr>
                        <a:t>361878 Momentum</a:t>
                      </a:r>
                      <a:endParaRPr lang="en-US" sz="12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C2410C"/>
                          </a:solidFill>
                          <a:latin typeface="Calibri" pitchFamily="34" charset="0"/>
                          <a:ea typeface="Calibri" pitchFamily="34" charset="-122"/>
                          <a:cs typeface="Calibri" pitchFamily="34" charset="-120"/>
                        </a:rPr>
                        <a:t>320000 Reversion</a:t>
                      </a:r>
                      <a:endParaRPr lang="en-US" sz="12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E7C6B"/>
                          </a:solidFill>
                          <a:latin typeface="Calibri" pitchFamily="34" charset="0"/>
                          <a:ea typeface="Calibri" pitchFamily="34" charset="-122"/>
                          <a:cs typeface="Calibri" pitchFamily="34" charset="-120"/>
                        </a:rPr>
                        <a:t>336690 Composite</a:t>
                      </a:r>
                      <a:endParaRPr lang="en-US" sz="12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IR</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0.102</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0.118</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0.074</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76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0.120</a:t>
                      </a:r>
                      <a:pPr indent="0" marL="0">
                        <a:buNone/>
                      </a:pPr>
                      <a:r>
                        <a:rPr lang="en-US" sz="1400" b="1" dirty="0">
                          <a:solidFill>
                            <a:srgbClr val="0E7C6B"/>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15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0.119</a:t>
                      </a:r>
                      <a:pPr indent="0" marL="0">
                        <a:buNone/>
                      </a:pPr>
                      <a:r>
                        <a:rPr lang="en-US" sz="1400" b="1" dirty="0">
                          <a:solidFill>
                            <a:srgbClr val="0E7C6B"/>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16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Return</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0.065</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0.094</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0.060</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47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0.145</a:t>
                      </a:r>
                      <a:pPr indent="0" marL="0">
                        <a:buNone/>
                      </a:pPr>
                      <a:r>
                        <a:rPr lang="en-US" sz="1400" b="1" dirty="0">
                          <a:solidFill>
                            <a:srgbClr val="0E7C6B"/>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1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0.108</a:t>
                      </a:r>
                      <a:pPr indent="0" marL="0">
                        <a:buNone/>
                      </a:pPr>
                      <a:r>
                        <a:rPr lang="en-US" sz="1400" b="1" dirty="0">
                          <a:solidFill>
                            <a:srgbClr val="0E7C6B"/>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7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Turnover (lower is better)</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0.958</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0.58 or less</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0.368</a:t>
                      </a:r>
                      <a:pPr indent="0" marL="0">
                        <a:buNone/>
                      </a:pPr>
                      <a:r>
                        <a:rPr lang="en-US" sz="1400" b="1" dirty="0">
                          <a:solidFill>
                            <a:srgbClr val="0E7C6B"/>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14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0.987</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44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1.369</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74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IR/√TVR (platform score)</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0.118</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0.134</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0.121</a:t>
                      </a:r>
                      <a:pPr indent="0" marL="0">
                        <a:buNone/>
                      </a:pPr>
                      <a:r>
                        <a:rPr lang="en-US" sz="1400" b="1" dirty="0">
                          <a:solidFill>
                            <a:srgbClr val="0E7C6B"/>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34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0.121</a:t>
                      </a:r>
                      <a:pPr indent="0" marL="0">
                        <a:buNone/>
                      </a:pPr>
                      <a:r>
                        <a:rPr lang="en-US" sz="1400" b="1" dirty="0">
                          <a:solidFill>
                            <a:srgbClr val="0E7C6B"/>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34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0.102</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54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Drawdown (lower is better)</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10.8</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7.6 or less</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22.4</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76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13.0</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54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20.5</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71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75488">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Ret/DD</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0.0062</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dirty="0">
                          <a:solidFill>
                            <a:srgbClr val="556070"/>
                          </a:solidFill>
                          <a:latin typeface="Calibri" pitchFamily="34" charset="0"/>
                          <a:ea typeface="Calibri" pitchFamily="34" charset="-122"/>
                          <a:cs typeface="Calibri" pitchFamily="34" charset="-120"/>
                        </a:rPr>
                        <a:t>0.0087</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0.0027</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79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0.0112</a:t>
                      </a:r>
                      <a:pPr indent="0" marL="0">
                        <a:buNone/>
                      </a:pPr>
                      <a:r>
                        <a:rPr lang="en-US" sz="1400" b="1" dirty="0">
                          <a:solidFill>
                            <a:srgbClr val="0E7C6B"/>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9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400" b="1" dirty="0">
                          <a:solidFill>
                            <a:srgbClr val="0B1220"/>
                          </a:solidFill>
                          <a:latin typeface="Calibri" pitchFamily="34" charset="0"/>
                          <a:ea typeface="Calibri" pitchFamily="34" charset="-122"/>
                          <a:cs typeface="Calibri" pitchFamily="34" charset="-120"/>
                        </a:rPr>
                        <a:t>0.0053</a:t>
                      </a:r>
                      <a:pPr indent="0" marL="0">
                        <a:buNone/>
                      </a:pPr>
                      <a:r>
                        <a:rPr lang="en-US" sz="1400" b="1" dirty="0">
                          <a:solidFill>
                            <a:srgbClr val="B42318"/>
                          </a:solidFill>
                          <a:latin typeface="Calibri" pitchFamily="34" charset="0"/>
                          <a:ea typeface="Calibri" pitchFamily="34" charset="-122"/>
                          <a:cs typeface="Calibri" pitchFamily="34" charset="-120"/>
                        </a:rPr>
                        <a:t>  ▼ </a:t>
                      </a:r>
                      <a:pPr indent="0" marL="0">
                        <a:buNone/>
                      </a:pPr>
                      <a:r>
                        <a:rPr lang="en-US" sz="1200" dirty="0">
                          <a:solidFill>
                            <a:srgbClr val="556070"/>
                          </a:solidFill>
                          <a:latin typeface="Calibri" pitchFamily="34" charset="0"/>
                          <a:ea typeface="Calibri" pitchFamily="34" charset="-122"/>
                          <a:cs typeface="Calibri" pitchFamily="34" charset="-120"/>
                        </a:rPr>
                        <a:t>51 / 80</a:t>
                      </a:r>
                      <a:endParaRPr lang="en-US" sz="1400" dirty="0">
                        <a:latin typeface="Calibri" charset="0"/>
                        <a:ea typeface="Calibri" charset="0"/>
                        <a:cs typeface="Calibri" charset="0"/>
                      </a:endParaRPr>
                    </a:p>
                  </a:txBody>
                  <a:tcPr marL="91440" marR="91440" marT="0" marB="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4" name="card-95"/>
          <p:cNvSpPr/>
          <p:nvPr/>
        </p:nvSpPr>
        <p:spPr>
          <a:xfrm>
            <a:off x="548640" y="4754880"/>
            <a:ext cx="3520440" cy="1463040"/>
          </a:xfrm>
          <a:prstGeom prst="roundRect">
            <a:avLst>
              <a:gd name="adj" fmla="val 5000"/>
            </a:avLst>
          </a:prstGeom>
          <a:solidFill>
            <a:schemeClr val="bg2"/>
          </a:solidFill>
          <a:ln w="12700">
            <a:solidFill>
              <a:schemeClr val="bg2"/>
            </a:solidFill>
            <a:prstDash val="solid"/>
          </a:ln>
        </p:spPr>
      </p:sp>
      <p:sp>
        <p:nvSpPr>
          <p:cNvPr id="5" name="text-96"/>
          <p:cNvSpPr txBox="1"/>
          <p:nvPr/>
        </p:nvSpPr>
        <p:spPr>
          <a:xfrm>
            <a:off x="731520" y="4846320"/>
            <a:ext cx="3154680" cy="1325880"/>
          </a:xfrm>
          <a:prstGeom prst="rect">
            <a:avLst/>
          </a:prstGeom>
          <a:noFill/>
          <a:ln/>
        </p:spPr>
        <p:txBody>
          <a:bodyPr wrap="square" lIns="0" tIns="0" rIns="0" bIns="0" rtlCol="0" anchor="t"/>
          <a:lstStyle/>
          <a:p>
            <a:pPr indent="0" marL="0">
              <a:spcAft>
                <a:spcPts val="400"/>
              </a:spcAft>
              <a:buNone/>
            </a:pPr>
            <a:r>
              <a:rPr lang="en-US" sz="1300" b="1" dirty="0">
                <a:solidFill>
                  <a:srgbClr val="1F4FD8"/>
                </a:solidFill>
              </a:rPr>
              <a:t>Momentum</a:t>
            </a:r>
            <a:endParaRPr lang="en-US" sz="1300" dirty="0"/>
          </a:p>
          <a:p>
            <a:pPr indent="0" marL="0">
              <a:spcAft>
                <a:spcPts val="400"/>
              </a:spcAft>
              <a:buNone/>
            </a:pPr>
            <a:r>
              <a:rPr lang="en-US" sz="1300" dirty="0">
                <a:solidFill>
                  <a:schemeClr val="tx2"/>
                </a:solidFill>
              </a:rPr>
              <a:t>Cheapest to trade, weakest alone. Earns its place by betting the opposite way to the reversal pool.</a:t>
            </a:r>
            <a:endParaRPr lang="en-US" sz="1300" dirty="0"/>
          </a:p>
        </p:txBody>
      </p:sp>
      <p:sp>
        <p:nvSpPr>
          <p:cNvPr id="6" name="card-97"/>
          <p:cNvSpPr/>
          <p:nvPr/>
        </p:nvSpPr>
        <p:spPr>
          <a:xfrm>
            <a:off x="4315968" y="4754880"/>
            <a:ext cx="3520440" cy="1463040"/>
          </a:xfrm>
          <a:prstGeom prst="roundRect">
            <a:avLst>
              <a:gd name="adj" fmla="val 5000"/>
            </a:avLst>
          </a:prstGeom>
          <a:solidFill>
            <a:schemeClr val="bg2"/>
          </a:solidFill>
          <a:ln w="12700">
            <a:solidFill>
              <a:schemeClr val="bg2"/>
            </a:solidFill>
            <a:prstDash val="solid"/>
          </a:ln>
        </p:spPr>
      </p:sp>
      <p:sp>
        <p:nvSpPr>
          <p:cNvPr id="7" name="text-98"/>
          <p:cNvSpPr txBox="1"/>
          <p:nvPr/>
        </p:nvSpPr>
        <p:spPr>
          <a:xfrm>
            <a:off x="4498848" y="4846320"/>
            <a:ext cx="3154680" cy="1325880"/>
          </a:xfrm>
          <a:prstGeom prst="rect">
            <a:avLst/>
          </a:prstGeom>
          <a:noFill/>
          <a:ln/>
        </p:spPr>
        <p:txBody>
          <a:bodyPr wrap="square" lIns="0" tIns="0" rIns="0" bIns="0" rtlCol="0" anchor="t"/>
          <a:lstStyle/>
          <a:p>
            <a:pPr indent="0" marL="0">
              <a:spcAft>
                <a:spcPts val="400"/>
              </a:spcAft>
              <a:buNone/>
            </a:pPr>
            <a:r>
              <a:rPr lang="en-US" sz="1300" b="1" dirty="0">
                <a:solidFill>
                  <a:srgbClr val="C2410C"/>
                </a:solidFill>
              </a:rPr>
              <a:t>Reversion</a:t>
            </a:r>
            <a:endParaRPr lang="en-US" sz="1300" dirty="0"/>
          </a:p>
          <a:p>
            <a:pPr indent="0" marL="0">
              <a:spcAft>
                <a:spcPts val="400"/>
              </a:spcAft>
              <a:buNone/>
            </a:pPr>
            <a:r>
              <a:rPr lang="en-US" sz="1300" dirty="0">
                <a:solidFill>
                  <a:schemeClr val="tx2"/>
                </a:solidFill>
              </a:rPr>
              <a:t>Strongest standalone: #1 return on the account and top-decile Ret/DD. Turnover is its cost.</a:t>
            </a:r>
            <a:endParaRPr lang="en-US" sz="1300" dirty="0"/>
          </a:p>
        </p:txBody>
      </p:sp>
      <p:sp>
        <p:nvSpPr>
          <p:cNvPr id="8" name="card-99"/>
          <p:cNvSpPr/>
          <p:nvPr/>
        </p:nvSpPr>
        <p:spPr>
          <a:xfrm>
            <a:off x="8083296" y="4754880"/>
            <a:ext cx="3520440" cy="1463040"/>
          </a:xfrm>
          <a:prstGeom prst="roundRect">
            <a:avLst>
              <a:gd name="adj" fmla="val 5000"/>
            </a:avLst>
          </a:prstGeom>
          <a:solidFill>
            <a:schemeClr val="bg2"/>
          </a:solidFill>
          <a:ln w="12700">
            <a:solidFill>
              <a:schemeClr val="bg2"/>
            </a:solidFill>
            <a:prstDash val="solid"/>
          </a:ln>
        </p:spPr>
      </p:sp>
      <p:sp>
        <p:nvSpPr>
          <p:cNvPr id="9" name="text-100"/>
          <p:cNvSpPr txBox="1"/>
          <p:nvPr/>
        </p:nvSpPr>
        <p:spPr>
          <a:xfrm>
            <a:off x="8266176" y="4846320"/>
            <a:ext cx="3154680" cy="1325880"/>
          </a:xfrm>
          <a:prstGeom prst="rect">
            <a:avLst/>
          </a:prstGeom>
          <a:noFill/>
          <a:ln/>
        </p:spPr>
        <p:txBody>
          <a:bodyPr wrap="square" lIns="0" tIns="0" rIns="0" bIns="0" rtlCol="0" anchor="t"/>
          <a:lstStyle/>
          <a:p>
            <a:pPr indent="0" marL="0">
              <a:spcAft>
                <a:spcPts val="400"/>
              </a:spcAft>
              <a:buNone/>
            </a:pPr>
            <a:r>
              <a:rPr lang="en-US" sz="1300" b="1" dirty="0">
                <a:solidFill>
                  <a:srgbClr val="0E7C6B"/>
                </a:solidFill>
              </a:rPr>
              <a:t>Composite</a:t>
            </a:r>
            <a:endParaRPr lang="en-US" sz="1300" dirty="0"/>
          </a:p>
          <a:p>
            <a:pPr indent="0" marL="0">
              <a:spcAft>
                <a:spcPts val="400"/>
              </a:spcAft>
              <a:buNone/>
            </a:pPr>
            <a:r>
              <a:rPr lang="en-US" sz="1300" dirty="0">
                <a:solidFill>
                  <a:schemeClr val="tx2"/>
                </a:solidFill>
              </a:rPr>
              <a:t>Proof of construction: two bottom-half legs make a top-20 IR. Turnover and drawdown are the price.</a:t>
            </a:r>
            <a:endParaRPr lang="en-US" sz="1300" dirty="0"/>
          </a:p>
        </p:txBody>
      </p:sp>
      <p:sp>
        <p:nvSpPr>
          <p:cNvPr id="25" name="Slide Number Placeholder 0"/>
          <p:cNvSpPr>
            <a:spLocks noGrp="1"/>
          </p:cNvSpPr>
          <p:nvPr>
            <p:ph type="sldNum" sz="quarter" idx="4294967295"/>
          </p:nvPr>
        </p:nvSpPr>
        <p:spPr>
          <a:xfrm>
            <a:off x="11185855" y="644652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560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101"/>
          <p:cNvSpPr txBox="1"/>
          <p:nvPr/>
        </p:nvSpPr>
        <p:spPr>
          <a:xfrm>
            <a:off x="548640" y="548640"/>
            <a:ext cx="10972800" cy="731520"/>
          </a:xfrm>
          <a:prstGeom prst="rect">
            <a:avLst/>
          </a:prstGeom>
          <a:noFill/>
          <a:ln/>
        </p:spPr>
        <p:txBody>
          <a:bodyPr wrap="square" lIns="0" tIns="0" rIns="0" bIns="0" rtlCol="0" anchor="t"/>
          <a:lstStyle/>
          <a:p>
            <a:pPr indent="0" marL="0">
              <a:buNone/>
            </a:pPr>
            <a:r>
              <a:rPr lang="en-US" sz="3600" b="1" dirty="0">
                <a:solidFill>
                  <a:schemeClr val="bg1"/>
                </a:solidFill>
              </a:rPr>
              <a:t>What the three add up to</a:t>
            </a:r>
            <a:endParaRPr lang="en-US" sz="3600" dirty="0"/>
          </a:p>
        </p:txBody>
      </p:sp>
      <p:sp>
        <p:nvSpPr>
          <p:cNvPr id="3" name="darkcard-102"/>
          <p:cNvSpPr/>
          <p:nvPr/>
        </p:nvSpPr>
        <p:spPr>
          <a:xfrm>
            <a:off x="548640" y="1554480"/>
            <a:ext cx="3520440" cy="2651760"/>
          </a:xfrm>
          <a:prstGeom prst="roundRect">
            <a:avLst>
              <a:gd name="adj" fmla="val 2759"/>
            </a:avLst>
          </a:prstGeom>
          <a:solidFill>
            <a:srgbClr val="162033"/>
          </a:solidFill>
          <a:ln w="12700">
            <a:solidFill>
              <a:srgbClr val="162033"/>
            </a:solidFill>
            <a:prstDash val="solid"/>
          </a:ln>
        </p:spPr>
      </p:sp>
      <p:sp>
        <p:nvSpPr>
          <p:cNvPr id="4" name="tag-103"/>
          <p:cNvSpPr/>
          <p:nvPr/>
        </p:nvSpPr>
        <p:spPr>
          <a:xfrm>
            <a:off x="777240" y="1783080"/>
            <a:ext cx="3063240" cy="310896"/>
          </a:xfrm>
          <a:prstGeom prst="roundRect">
            <a:avLst>
              <a:gd name="adj" fmla="val 11765"/>
            </a:avLst>
          </a:prstGeom>
          <a:solidFill>
            <a:srgbClr val="1F4FD8"/>
          </a:solidFill>
          <a:ln w="12700">
            <a:solidFill>
              <a:srgbClr val="1F4FD8"/>
            </a:solidFill>
            <a:prstDash val="solid"/>
          </a:ln>
        </p:spPr>
      </p:sp>
      <p:sp>
        <p:nvSpPr>
          <p:cNvPr id="5" name="text-104"/>
          <p:cNvSpPr txBox="1"/>
          <p:nvPr/>
        </p:nvSpPr>
        <p:spPr>
          <a:xfrm>
            <a:off x="777240" y="1783080"/>
            <a:ext cx="3063240" cy="310896"/>
          </a:xfrm>
          <a:prstGeom prst="rect">
            <a:avLst/>
          </a:prstGeom>
          <a:noFill/>
          <a:ln/>
        </p:spPr>
        <p:txBody>
          <a:bodyPr wrap="square" lIns="0" tIns="0" rIns="0" bIns="0" rtlCol="0" anchor="ctr"/>
          <a:lstStyle/>
          <a:p>
            <a:pPr algn="ctr" indent="0" marL="0">
              <a:buNone/>
            </a:pPr>
            <a:r>
              <a:rPr lang="en-US" sz="1200" b="1" dirty="0">
                <a:solidFill>
                  <a:schemeClr val="bg1"/>
                </a:solidFill>
              </a:rPr>
              <a:t>361878 · Momentum</a:t>
            </a:r>
            <a:endParaRPr lang="en-US" sz="1200" dirty="0"/>
          </a:p>
        </p:txBody>
      </p:sp>
      <p:sp>
        <p:nvSpPr>
          <p:cNvPr id="6" name="text-105"/>
          <p:cNvSpPr txBox="1"/>
          <p:nvPr/>
        </p:nvSpPr>
        <p:spPr>
          <a:xfrm>
            <a:off x="777240" y="2331720"/>
            <a:ext cx="3063240" cy="548640"/>
          </a:xfrm>
          <a:prstGeom prst="rect">
            <a:avLst/>
          </a:prstGeom>
          <a:noFill/>
          <a:ln/>
        </p:spPr>
        <p:txBody>
          <a:bodyPr wrap="square" lIns="0" tIns="0" rIns="0" bIns="0" rtlCol="0" anchor="t"/>
          <a:lstStyle/>
          <a:p>
            <a:pPr indent="0" marL="0">
              <a:buNone/>
            </a:pPr>
            <a:r>
              <a:rPr lang="en-US" sz="1400" b="1" dirty="0">
                <a:solidFill>
                  <a:schemeClr val="bg1"/>
                </a:solidFill>
              </a:rPr>
              <a:t>Horizon ~20 days · bets continuation</a:t>
            </a:r>
            <a:endParaRPr lang="en-US" sz="1400" dirty="0"/>
          </a:p>
        </p:txBody>
      </p:sp>
      <p:sp>
        <p:nvSpPr>
          <p:cNvPr id="7" name="text-106"/>
          <p:cNvSpPr txBox="1"/>
          <p:nvPr/>
        </p:nvSpPr>
        <p:spPr>
          <a:xfrm>
            <a:off x="777240" y="2926080"/>
            <a:ext cx="3063240" cy="1463040"/>
          </a:xfrm>
          <a:prstGeom prst="rect">
            <a:avLst/>
          </a:prstGeom>
          <a:noFill/>
          <a:ln/>
        </p:spPr>
        <p:txBody>
          <a:bodyPr wrap="square" lIns="0" tIns="0" rIns="0" bIns="0" rtlCol="0" anchor="t"/>
          <a:lstStyle/>
          <a:p>
            <a:pPr indent="0" marL="0">
              <a:buNone/>
            </a:pPr>
            <a:r>
              <a:rPr lang="en-US" sz="1400" dirty="0">
                <a:solidFill>
                  <a:srgbClr val="C9D2E0"/>
                </a:solidFill>
              </a:rPr>
              <a:t>Fails if post-earnings drift gets arbitraged away, or on earnings seasons where reactions reverse (max DD 22.4).</a:t>
            </a:r>
            <a:endParaRPr lang="en-US" sz="1400" dirty="0"/>
          </a:p>
        </p:txBody>
      </p:sp>
      <p:sp>
        <p:nvSpPr>
          <p:cNvPr id="8" name="darkcard-107"/>
          <p:cNvSpPr/>
          <p:nvPr/>
        </p:nvSpPr>
        <p:spPr>
          <a:xfrm>
            <a:off x="4315968" y="1554480"/>
            <a:ext cx="3520440" cy="2651760"/>
          </a:xfrm>
          <a:prstGeom prst="roundRect">
            <a:avLst>
              <a:gd name="adj" fmla="val 2759"/>
            </a:avLst>
          </a:prstGeom>
          <a:solidFill>
            <a:srgbClr val="162033"/>
          </a:solidFill>
          <a:ln w="12700">
            <a:solidFill>
              <a:srgbClr val="162033"/>
            </a:solidFill>
            <a:prstDash val="solid"/>
          </a:ln>
        </p:spPr>
      </p:sp>
      <p:sp>
        <p:nvSpPr>
          <p:cNvPr id="9" name="tag-108"/>
          <p:cNvSpPr/>
          <p:nvPr/>
        </p:nvSpPr>
        <p:spPr>
          <a:xfrm>
            <a:off x="4544568" y="1783080"/>
            <a:ext cx="3063240" cy="310896"/>
          </a:xfrm>
          <a:prstGeom prst="roundRect">
            <a:avLst>
              <a:gd name="adj" fmla="val 11765"/>
            </a:avLst>
          </a:prstGeom>
          <a:solidFill>
            <a:srgbClr val="C2410C"/>
          </a:solidFill>
          <a:ln w="12700">
            <a:solidFill>
              <a:srgbClr val="C2410C"/>
            </a:solidFill>
            <a:prstDash val="solid"/>
          </a:ln>
        </p:spPr>
      </p:sp>
      <p:sp>
        <p:nvSpPr>
          <p:cNvPr id="10" name="text-109"/>
          <p:cNvSpPr txBox="1"/>
          <p:nvPr/>
        </p:nvSpPr>
        <p:spPr>
          <a:xfrm>
            <a:off x="4544568" y="1783080"/>
            <a:ext cx="3063240" cy="310896"/>
          </a:xfrm>
          <a:prstGeom prst="rect">
            <a:avLst/>
          </a:prstGeom>
          <a:noFill/>
          <a:ln/>
        </p:spPr>
        <p:txBody>
          <a:bodyPr wrap="square" lIns="0" tIns="0" rIns="0" bIns="0" rtlCol="0" anchor="ctr"/>
          <a:lstStyle/>
          <a:p>
            <a:pPr algn="ctr" indent="0" marL="0">
              <a:buNone/>
            </a:pPr>
            <a:r>
              <a:rPr lang="en-US" sz="1200" b="1" dirty="0">
                <a:solidFill>
                  <a:schemeClr val="bg1"/>
                </a:solidFill>
              </a:rPr>
              <a:t>320000 · Mean reversion</a:t>
            </a:r>
            <a:endParaRPr lang="en-US" sz="1200" dirty="0"/>
          </a:p>
        </p:txBody>
      </p:sp>
      <p:sp>
        <p:nvSpPr>
          <p:cNvPr id="11" name="text-110"/>
          <p:cNvSpPr txBox="1"/>
          <p:nvPr/>
        </p:nvSpPr>
        <p:spPr>
          <a:xfrm>
            <a:off x="4544568" y="2331720"/>
            <a:ext cx="3063240" cy="548640"/>
          </a:xfrm>
          <a:prstGeom prst="rect">
            <a:avLst/>
          </a:prstGeom>
          <a:noFill/>
          <a:ln/>
        </p:spPr>
        <p:txBody>
          <a:bodyPr wrap="square" lIns="0" tIns="0" rIns="0" bIns="0" rtlCol="0" anchor="t"/>
          <a:lstStyle/>
          <a:p>
            <a:pPr indent="0" marL="0">
              <a:buNone/>
            </a:pPr>
            <a:r>
              <a:rPr lang="en-US" sz="1400" b="1" dirty="0">
                <a:solidFill>
                  <a:schemeClr val="bg1"/>
                </a:solidFill>
              </a:rPr>
              <a:t>Horizon 1–5 days · bets reversal</a:t>
            </a:r>
            <a:endParaRPr lang="en-US" sz="1400" dirty="0"/>
          </a:p>
        </p:txBody>
      </p:sp>
      <p:sp>
        <p:nvSpPr>
          <p:cNvPr id="12" name="text-111"/>
          <p:cNvSpPr txBox="1"/>
          <p:nvPr/>
        </p:nvSpPr>
        <p:spPr>
          <a:xfrm>
            <a:off x="4544568" y="2926080"/>
            <a:ext cx="3063240" cy="1463040"/>
          </a:xfrm>
          <a:prstGeom prst="rect">
            <a:avLst/>
          </a:prstGeom>
          <a:noFill/>
          <a:ln/>
        </p:spPr>
        <p:txBody>
          <a:bodyPr wrap="square" lIns="0" tIns="0" rIns="0" bIns="0" rtlCol="0" anchor="t"/>
          <a:lstStyle/>
          <a:p>
            <a:pPr indent="0" marL="0">
              <a:buNone/>
            </a:pPr>
            <a:r>
              <a:rPr lang="en-US" sz="1400" dirty="0">
                <a:solidFill>
                  <a:srgbClr val="C9D2E0"/>
                </a:solidFill>
              </a:rPr>
              <a:t>Fails when a move is news rather than pressure, and in liquidity crises when providers are run over.</a:t>
            </a:r>
            <a:endParaRPr lang="en-US" sz="1400" dirty="0"/>
          </a:p>
        </p:txBody>
      </p:sp>
      <p:sp>
        <p:nvSpPr>
          <p:cNvPr id="13" name="darkcard-112"/>
          <p:cNvSpPr/>
          <p:nvPr/>
        </p:nvSpPr>
        <p:spPr>
          <a:xfrm>
            <a:off x="8083296" y="1554480"/>
            <a:ext cx="3520440" cy="2651760"/>
          </a:xfrm>
          <a:prstGeom prst="roundRect">
            <a:avLst>
              <a:gd name="adj" fmla="val 2759"/>
            </a:avLst>
          </a:prstGeom>
          <a:solidFill>
            <a:srgbClr val="162033"/>
          </a:solidFill>
          <a:ln w="12700">
            <a:solidFill>
              <a:srgbClr val="162033"/>
            </a:solidFill>
            <a:prstDash val="solid"/>
          </a:ln>
        </p:spPr>
      </p:sp>
      <p:sp>
        <p:nvSpPr>
          <p:cNvPr id="14" name="tag-113"/>
          <p:cNvSpPr/>
          <p:nvPr/>
        </p:nvSpPr>
        <p:spPr>
          <a:xfrm>
            <a:off x="8311896" y="1783080"/>
            <a:ext cx="3063240" cy="310896"/>
          </a:xfrm>
          <a:prstGeom prst="roundRect">
            <a:avLst>
              <a:gd name="adj" fmla="val 11765"/>
            </a:avLst>
          </a:prstGeom>
          <a:solidFill>
            <a:srgbClr val="0E7C6B"/>
          </a:solidFill>
          <a:ln w="12700">
            <a:solidFill>
              <a:srgbClr val="0E7C6B"/>
            </a:solidFill>
            <a:prstDash val="solid"/>
          </a:ln>
        </p:spPr>
      </p:sp>
      <p:sp>
        <p:nvSpPr>
          <p:cNvPr id="15" name="text-114"/>
          <p:cNvSpPr txBox="1"/>
          <p:nvPr/>
        </p:nvSpPr>
        <p:spPr>
          <a:xfrm>
            <a:off x="8311896" y="1783080"/>
            <a:ext cx="3063240" cy="310896"/>
          </a:xfrm>
          <a:prstGeom prst="rect">
            <a:avLst/>
          </a:prstGeom>
          <a:noFill/>
          <a:ln/>
        </p:spPr>
        <p:txBody>
          <a:bodyPr wrap="square" lIns="0" tIns="0" rIns="0" bIns="0" rtlCol="0" anchor="ctr"/>
          <a:lstStyle/>
          <a:p>
            <a:pPr algn="ctr" indent="0" marL="0">
              <a:buNone/>
            </a:pPr>
            <a:r>
              <a:rPr lang="en-US" sz="1200" b="1" dirty="0">
                <a:solidFill>
                  <a:schemeClr val="bg1"/>
                </a:solidFill>
              </a:rPr>
              <a:t>336690 · Composite</a:t>
            </a:r>
            <a:endParaRPr lang="en-US" sz="1200" dirty="0"/>
          </a:p>
        </p:txBody>
      </p:sp>
      <p:sp>
        <p:nvSpPr>
          <p:cNvPr id="16" name="text-115"/>
          <p:cNvSpPr txBox="1"/>
          <p:nvPr/>
        </p:nvSpPr>
        <p:spPr>
          <a:xfrm>
            <a:off x="8311896" y="2331720"/>
            <a:ext cx="3063240" cy="548640"/>
          </a:xfrm>
          <a:prstGeom prst="rect">
            <a:avLst/>
          </a:prstGeom>
          <a:noFill/>
          <a:ln/>
        </p:spPr>
        <p:txBody>
          <a:bodyPr wrap="square" lIns="0" tIns="0" rIns="0" bIns="0" rtlCol="0" anchor="t"/>
          <a:lstStyle/>
          <a:p>
            <a:pPr indent="0" marL="0">
              <a:buNone/>
            </a:pPr>
            <a:r>
              <a:rPr lang="en-US" sz="1400" b="1" dirty="0">
                <a:solidFill>
                  <a:schemeClr val="bg1"/>
                </a:solidFill>
              </a:rPr>
              <a:t>Horizon 1–5 days · persist + revert</a:t>
            </a:r>
            <a:endParaRPr lang="en-US" sz="1400" dirty="0"/>
          </a:p>
        </p:txBody>
      </p:sp>
      <p:sp>
        <p:nvSpPr>
          <p:cNvPr id="17" name="text-116"/>
          <p:cNvSpPr txBox="1"/>
          <p:nvPr/>
        </p:nvSpPr>
        <p:spPr>
          <a:xfrm>
            <a:off x="8311896" y="2926080"/>
            <a:ext cx="3063240" cy="1463040"/>
          </a:xfrm>
          <a:prstGeom prst="rect">
            <a:avLst/>
          </a:prstGeom>
          <a:noFill/>
          <a:ln/>
        </p:spPr>
        <p:txBody>
          <a:bodyPr wrap="square" lIns="0" tIns="0" rIns="0" bIns="0" rtlCol="0" anchor="t"/>
          <a:lstStyle/>
          <a:p>
            <a:pPr indent="0" marL="0">
              <a:buNone/>
            </a:pPr>
            <a:r>
              <a:rPr lang="en-US" sz="1400" dirty="0">
                <a:solidFill>
                  <a:srgbClr val="C9D2E0"/>
                </a:solidFill>
              </a:rPr>
              <a:t>Fails if late volume and close location start moving together, so ρ rises and the gain over the legs shrinks.</a:t>
            </a:r>
            <a:endParaRPr lang="en-US" sz="1400" dirty="0"/>
          </a:p>
        </p:txBody>
      </p:sp>
      <p:sp>
        <p:nvSpPr>
          <p:cNvPr id="18" name="text-117"/>
          <p:cNvSpPr txBox="1"/>
          <p:nvPr/>
        </p:nvSpPr>
        <p:spPr>
          <a:xfrm>
            <a:off x="548640" y="4572000"/>
            <a:ext cx="10972800" cy="914400"/>
          </a:xfrm>
          <a:prstGeom prst="rect">
            <a:avLst/>
          </a:prstGeom>
          <a:noFill/>
          <a:ln/>
        </p:spPr>
        <p:txBody>
          <a:bodyPr wrap="square" lIns="0" tIns="0" rIns="0" bIns="0" rtlCol="0" anchor="t"/>
          <a:lstStyle/>
          <a:p>
            <a:pPr indent="0" marL="0">
              <a:spcAft>
                <a:spcPts val="600"/>
              </a:spcAft>
              <a:buNone/>
            </a:pPr>
            <a:r>
              <a:rPr lang="en-US" sz="1500" b="1" dirty="0">
                <a:solidFill>
                  <a:schemeClr val="bg1"/>
                </a:solidFill>
              </a:rPr>
              <a:t>Next checks before trusting this out of sample</a:t>
            </a:r>
            <a:endParaRPr lang="en-US" sz="1500" dirty="0"/>
          </a:p>
          <a:p>
            <a:pPr indent="0" marL="0">
              <a:spcAft>
                <a:spcPts val="600"/>
              </a:spcAft>
              <a:buNone/>
            </a:pPr>
            <a:r>
              <a:rPr lang="en-US" sz="1500" dirty="0">
                <a:solidFill>
                  <a:srgbClr val="C9D2E0"/>
                </a:solidFill>
              </a:rPr>
              <a:t>Measure the pairwise correlation of the three PnL streams  ·  run them on out-of-sample dates  ·  check drawdowns by year</a:t>
            </a:r>
            <a:endParaRPr lang="en-US" sz="1500" dirty="0"/>
          </a:p>
        </p:txBody>
      </p:sp>
      <p:sp>
        <p:nvSpPr>
          <p:cNvPr id="19" name="text-118"/>
          <p:cNvSpPr txBox="1"/>
          <p:nvPr/>
        </p:nvSpPr>
        <p:spPr>
          <a:xfrm>
            <a:off x="548640" y="6172200"/>
            <a:ext cx="10972800" cy="320040"/>
          </a:xfrm>
          <a:prstGeom prst="rect">
            <a:avLst/>
          </a:prstGeom>
          <a:noFill/>
          <a:ln/>
        </p:spPr>
        <p:txBody>
          <a:bodyPr wrap="square" lIns="0" tIns="0" rIns="0" bIns="0" rtlCol="0" anchor="t"/>
          <a:lstStyle/>
          <a:p>
            <a:pPr indent="0" marL="0">
              <a:buNone/>
            </a:pPr>
            <a:r>
              <a:rPr lang="en-US" sz="1100" dirty="0">
                <a:solidFill>
                  <a:srgbClr val="C9D2E0"/>
                </a:solidFill>
              </a:rPr>
              <a:t>All figures are in-sample backtests on TrexSim; the hypotheses explain why the signals might work, they are not proven causes.</a:t>
            </a:r>
            <a:endParaRPr lang="en-US" sz="1100" dirty="0"/>
          </a:p>
        </p:txBody>
      </p:sp>
      <p:sp>
        <p:nvSpPr>
          <p:cNvPr id="21" name="Text 0"/>
          <p:cNvSpPr/>
          <p:nvPr>
            <p:ph idx="100" type="title" hasCustomPrompt="1"/>
          </p:nvPr>
        </p:nvSpPr>
        <p:spPr>
          <a:xfrm>
            <a:off x="548640" y="2011680"/>
            <a:ext cx="10515600" cy="1463040"/>
          </a:xfrm>
          <a:prstGeom prst="rect">
            <a:avLst/>
          </a:prstGeom>
          <a:noFill/>
          <a:ln/>
        </p:spPr>
        <p:txBody>
          <a:bodyPr wrap="square" lIns="0" tIns="0" rIns="0" bIns="0" rtlCol="0" anchor="t"/>
          <a:lstStyle/>
          <a:p>
            <a:pPr algn="l" indent="0" marL="0">
              <a:buNone/>
            </a:pPr>
            <a:endParaRPr lang="en-US" sz="4400" dirty="0"/>
          </a:p>
        </p:txBody>
      </p:sp>
    </p:spTree>
  </p:cSld>
  <p:clrMapOvr>
    <a:masterClrMapping/>
  </p:clrMapOvr>
</p:sld>
</file>

<file path=ppt/theme/theme1.xml><?xml version="1.0" encoding="utf-8"?>
<a:theme xmlns:a="http://schemas.openxmlformats.org/drawingml/2006/main" name="TrexSim Alpha Deck">
  <a:themeElements>
    <a:clrScheme name="TrexSim Alpha Deck">
      <a:dk1>
        <a:srgbClr val="0B1220"/>
      </a:dk1>
      <a:lt1>
        <a:srgbClr val="FFFFFF"/>
      </a:lt1>
      <a:dk2>
        <a:srgbClr val="556070"/>
      </a:dk2>
      <a:lt2>
        <a:srgbClr val="F1F4F8"/>
      </a:lt2>
      <a:accent1>
        <a:srgbClr val="1F4FD8"/>
      </a:accent1>
      <a:accent2>
        <a:srgbClr val="C2410C"/>
      </a:accent2>
      <a:accent3>
        <a:srgbClr val="0E7C6B"/>
      </a:accent3>
      <a:accent4>
        <a:srgbClr val="8A94A6"/>
      </a:accent4>
      <a:accent5>
        <a:srgbClr val="B42318"/>
      </a:accent5>
      <a:accent6>
        <a:srgbClr val="D5DBE3"/>
      </a:accent6>
      <a:hlink>
        <a:srgbClr val="1F4FD8"/>
      </a:hlink>
      <a:folHlink>
        <a:srgbClr val="556070"/>
      </a:folHlink>
    </a:clrScheme>
    <a:fontScheme name="TrexSim Alpha Dec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TrexSim: three alphas, benchmarked</dc:title>
  <dc:subject>PptxGenJS Presentation</dc:subject>
  <dc:creator>sparshgupta</dc:creator>
  <cp:lastModifiedBy>sparshgupta</cp:lastModifiedBy>
  <cp:revision>1</cp:revision>
  <dcterms:created xsi:type="dcterms:W3CDTF">2026-10-03T18:12:07Z</dcterms:created>
  <dcterms:modified xsi:type="dcterms:W3CDTF">2026-10-03T18:12:07Z</dcterms:modified>
</cp:coreProperties>
</file>